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handoutMasterIdLst>
    <p:handoutMasterId r:id="rId9"/>
  </p:handout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F3FF7B8-FA4F-0126-C80B-CA1A316EE280}" name="Artom Kovalenko" initials="AK" userId="S::Kovalenko-A@ulster.ac.uk::e651e145-3a03-4aea-a41d-e314863f9711"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367"/>
    <p:restoredTop sz="94712"/>
  </p:normalViewPr>
  <p:slideViewPr>
    <p:cSldViewPr snapToGrid="0">
      <p:cViewPr varScale="1">
        <p:scale>
          <a:sx n="102" d="100"/>
          <a:sy n="102" d="100"/>
        </p:scale>
        <p:origin x="744" y="168"/>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81" d="100"/>
          <a:sy n="81" d="100"/>
        </p:scale>
        <p:origin x="4024" y="19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handoutMaster" Target="handoutMasters/handoutMaster1.xml"/><Relationship Id="rId14"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a:extLst>
              <a:ext uri="{FF2B5EF4-FFF2-40B4-BE49-F238E27FC236}">
                <a16:creationId xmlns:a16="http://schemas.microsoft.com/office/drawing/2014/main" id="{ABF19DC7-FAF9-53B8-D7D6-98263E95B3D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GB"/>
          </a:p>
        </p:txBody>
      </p:sp>
      <p:sp>
        <p:nvSpPr>
          <p:cNvPr id="3" name="Дата 2">
            <a:extLst>
              <a:ext uri="{FF2B5EF4-FFF2-40B4-BE49-F238E27FC236}">
                <a16:creationId xmlns:a16="http://schemas.microsoft.com/office/drawing/2014/main" id="{C4D59E77-E771-71DF-28EC-9E5290B96A4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6D2D762-0B95-B746-80AE-BD1FC2FC4985}" type="datetimeFigureOut">
              <a:rPr lang="ru-GB" smtClean="0"/>
              <a:t>25/05/2026</a:t>
            </a:fld>
            <a:endParaRPr lang="ru-GB"/>
          </a:p>
        </p:txBody>
      </p:sp>
      <p:sp>
        <p:nvSpPr>
          <p:cNvPr id="4" name="Нижний колонтитул 3">
            <a:extLst>
              <a:ext uri="{FF2B5EF4-FFF2-40B4-BE49-F238E27FC236}">
                <a16:creationId xmlns:a16="http://schemas.microsoft.com/office/drawing/2014/main" id="{232B417E-C6EA-99B3-3174-70419A5745A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ru-GB"/>
          </a:p>
        </p:txBody>
      </p:sp>
      <p:sp>
        <p:nvSpPr>
          <p:cNvPr id="5" name="Номер слайда 4">
            <a:extLst>
              <a:ext uri="{FF2B5EF4-FFF2-40B4-BE49-F238E27FC236}">
                <a16:creationId xmlns:a16="http://schemas.microsoft.com/office/drawing/2014/main" id="{C01D9DAE-8D04-286F-B7E6-112276AADA6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3B6283E-2C7D-1A42-AE06-EC4425D9C7E6}" type="slidenum">
              <a:rPr lang="ru-GB" smtClean="0"/>
              <a:t>‹#›</a:t>
            </a:fld>
            <a:endParaRPr lang="ru-GB"/>
          </a:p>
        </p:txBody>
      </p:sp>
    </p:spTree>
    <p:extLst>
      <p:ext uri="{BB962C8B-B14F-4D97-AF65-F5344CB8AC3E}">
        <p14:creationId xmlns:p14="http://schemas.microsoft.com/office/powerpoint/2010/main" val="3316613894"/>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endParaRPr lang="en-US" dirty="0"/>
          </a:p>
        </p:txBody>
      </p:sp>
      <p:sp>
        <p:nvSpPr>
          <p:cNvPr id="4" name="Date Placeholder 3"/>
          <p:cNvSpPr>
            <a:spLocks noGrp="1"/>
          </p:cNvSpPr>
          <p:nvPr>
            <p:ph type="dt" sz="half" idx="10"/>
          </p:nvPr>
        </p:nvSpPr>
        <p:spPr/>
        <p:txBody>
          <a:bodyPr/>
          <a:lstStyle/>
          <a:p>
            <a:fld id="{6D4F5A4B-361A-2D40-8606-05155F50ED43}" type="datetimeFigureOut">
              <a:rPr lang="ru-GB" smtClean="0"/>
              <a:t>25/05/2026</a:t>
            </a:fld>
            <a:endParaRPr lang="ru-GB"/>
          </a:p>
        </p:txBody>
      </p:sp>
      <p:sp>
        <p:nvSpPr>
          <p:cNvPr id="5" name="Footer Placeholder 4"/>
          <p:cNvSpPr>
            <a:spLocks noGrp="1"/>
          </p:cNvSpPr>
          <p:nvPr>
            <p:ph type="ftr" sz="quarter" idx="11"/>
          </p:nvPr>
        </p:nvSpPr>
        <p:spPr/>
        <p:txBody>
          <a:bodyPr/>
          <a:lstStyle/>
          <a:p>
            <a:endParaRPr lang="ru-GB"/>
          </a:p>
        </p:txBody>
      </p:sp>
      <p:sp>
        <p:nvSpPr>
          <p:cNvPr id="6" name="Slide Number Placeholder 5"/>
          <p:cNvSpPr>
            <a:spLocks noGrp="1"/>
          </p:cNvSpPr>
          <p:nvPr>
            <p:ph type="sldNum" sz="quarter" idx="12"/>
          </p:nvPr>
        </p:nvSpPr>
        <p:spPr/>
        <p:txBody>
          <a:bodyPr/>
          <a:lstStyle/>
          <a:p>
            <a:fld id="{48952E2D-03BE-2F4B-9B9A-424EE17A2807}" type="slidenum">
              <a:rPr lang="ru-GB" smtClean="0"/>
              <a:t>‹#›</a:t>
            </a:fld>
            <a:endParaRPr lang="ru-GB"/>
          </a:p>
        </p:txBody>
      </p:sp>
    </p:spTree>
    <p:extLst>
      <p:ext uri="{BB962C8B-B14F-4D97-AF65-F5344CB8AC3E}">
        <p14:creationId xmlns:p14="http://schemas.microsoft.com/office/powerpoint/2010/main" val="29921182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Content Placeholder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6D4F5A4B-361A-2D40-8606-05155F50ED43}" type="datetimeFigureOut">
              <a:rPr lang="ru-GB" smtClean="0"/>
              <a:t>25/05/2026</a:t>
            </a:fld>
            <a:endParaRPr lang="ru-GB"/>
          </a:p>
        </p:txBody>
      </p:sp>
      <p:sp>
        <p:nvSpPr>
          <p:cNvPr id="5" name="Footer Placeholder 4"/>
          <p:cNvSpPr>
            <a:spLocks noGrp="1"/>
          </p:cNvSpPr>
          <p:nvPr>
            <p:ph type="ftr" sz="quarter" idx="11"/>
          </p:nvPr>
        </p:nvSpPr>
        <p:spPr/>
        <p:txBody>
          <a:bodyPr/>
          <a:lstStyle/>
          <a:p>
            <a:endParaRPr lang="ru-GB"/>
          </a:p>
        </p:txBody>
      </p:sp>
      <p:sp>
        <p:nvSpPr>
          <p:cNvPr id="6" name="Slide Number Placeholder 5"/>
          <p:cNvSpPr>
            <a:spLocks noGrp="1"/>
          </p:cNvSpPr>
          <p:nvPr>
            <p:ph type="sldNum" sz="quarter" idx="12"/>
          </p:nvPr>
        </p:nvSpPr>
        <p:spPr/>
        <p:txBody>
          <a:bodyPr/>
          <a:lstStyle/>
          <a:p>
            <a:fld id="{48952E2D-03BE-2F4B-9B9A-424EE17A2807}" type="slidenum">
              <a:rPr lang="ru-GB" smtClean="0"/>
              <a:t>‹#›</a:t>
            </a:fld>
            <a:endParaRPr lang="ru-GB"/>
          </a:p>
        </p:txBody>
      </p:sp>
    </p:spTree>
    <p:extLst>
      <p:ext uri="{BB962C8B-B14F-4D97-AF65-F5344CB8AC3E}">
        <p14:creationId xmlns:p14="http://schemas.microsoft.com/office/powerpoint/2010/main" val="28591348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p:txBody>
          <a:bodyPr/>
          <a:lstStyle/>
          <a:p>
            <a:fld id="{6D4F5A4B-361A-2D40-8606-05155F50ED43}" type="datetimeFigureOut">
              <a:rPr lang="ru-GB" smtClean="0"/>
              <a:t>25/05/2026</a:t>
            </a:fld>
            <a:endParaRPr lang="ru-GB"/>
          </a:p>
        </p:txBody>
      </p:sp>
      <p:sp>
        <p:nvSpPr>
          <p:cNvPr id="5" name="Footer Placeholder 4"/>
          <p:cNvSpPr>
            <a:spLocks noGrp="1"/>
          </p:cNvSpPr>
          <p:nvPr>
            <p:ph type="ftr" sz="quarter" idx="11"/>
          </p:nvPr>
        </p:nvSpPr>
        <p:spPr/>
        <p:txBody>
          <a:bodyPr/>
          <a:lstStyle/>
          <a:p>
            <a:endParaRPr lang="ru-GB"/>
          </a:p>
        </p:txBody>
      </p:sp>
      <p:sp>
        <p:nvSpPr>
          <p:cNvPr id="6" name="Slide Number Placeholder 5"/>
          <p:cNvSpPr>
            <a:spLocks noGrp="1"/>
          </p:cNvSpPr>
          <p:nvPr>
            <p:ph type="sldNum" sz="quarter" idx="12"/>
          </p:nvPr>
        </p:nvSpPr>
        <p:spPr/>
        <p:txBody>
          <a:bodyPr/>
          <a:lstStyle/>
          <a:p>
            <a:fld id="{48952E2D-03BE-2F4B-9B9A-424EE17A2807}" type="slidenum">
              <a:rPr lang="ru-GB" smtClean="0"/>
              <a:t>‹#›</a:t>
            </a:fld>
            <a:endParaRPr lang="ru-GB"/>
          </a:p>
        </p:txBody>
      </p:sp>
    </p:spTree>
    <p:extLst>
      <p:ext uri="{BB962C8B-B14F-4D97-AF65-F5344CB8AC3E}">
        <p14:creationId xmlns:p14="http://schemas.microsoft.com/office/powerpoint/2010/main" val="11746838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Date Placeholder 4"/>
          <p:cNvSpPr>
            <a:spLocks noGrp="1"/>
          </p:cNvSpPr>
          <p:nvPr>
            <p:ph type="dt" sz="half" idx="10"/>
          </p:nvPr>
        </p:nvSpPr>
        <p:spPr/>
        <p:txBody>
          <a:bodyPr/>
          <a:lstStyle/>
          <a:p>
            <a:fld id="{6D4F5A4B-361A-2D40-8606-05155F50ED43}" type="datetimeFigureOut">
              <a:rPr lang="ru-GB" smtClean="0"/>
              <a:t>25/05/2026</a:t>
            </a:fld>
            <a:endParaRPr lang="ru-GB"/>
          </a:p>
        </p:txBody>
      </p:sp>
      <p:sp>
        <p:nvSpPr>
          <p:cNvPr id="6" name="Footer Placeholder 5"/>
          <p:cNvSpPr>
            <a:spLocks noGrp="1"/>
          </p:cNvSpPr>
          <p:nvPr>
            <p:ph type="ftr" sz="quarter" idx="11"/>
          </p:nvPr>
        </p:nvSpPr>
        <p:spPr/>
        <p:txBody>
          <a:bodyPr/>
          <a:lstStyle/>
          <a:p>
            <a:endParaRPr lang="ru-GB"/>
          </a:p>
        </p:txBody>
      </p:sp>
      <p:sp>
        <p:nvSpPr>
          <p:cNvPr id="7" name="Slide Number Placeholder 6"/>
          <p:cNvSpPr>
            <a:spLocks noGrp="1"/>
          </p:cNvSpPr>
          <p:nvPr>
            <p:ph type="sldNum" sz="quarter" idx="12"/>
          </p:nvPr>
        </p:nvSpPr>
        <p:spPr/>
        <p:txBody>
          <a:bodyPr/>
          <a:lstStyle/>
          <a:p>
            <a:fld id="{48952E2D-03BE-2F4B-9B9A-424EE17A2807}" type="slidenum">
              <a:rPr lang="ru-GB" smtClean="0"/>
              <a:t>‹#›</a:t>
            </a:fld>
            <a:endParaRPr lang="ru-GB"/>
          </a:p>
        </p:txBody>
      </p:sp>
    </p:spTree>
    <p:extLst>
      <p:ext uri="{BB962C8B-B14F-4D97-AF65-F5344CB8AC3E}">
        <p14:creationId xmlns:p14="http://schemas.microsoft.com/office/powerpoint/2010/main" val="258649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ru-RU"/>
              <a:t>Образец заголовка</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Content Placeholder 3"/>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Content Placeholder 5"/>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7" name="Date Placeholder 6"/>
          <p:cNvSpPr>
            <a:spLocks noGrp="1"/>
          </p:cNvSpPr>
          <p:nvPr>
            <p:ph type="dt" sz="half" idx="10"/>
          </p:nvPr>
        </p:nvSpPr>
        <p:spPr/>
        <p:txBody>
          <a:bodyPr/>
          <a:lstStyle/>
          <a:p>
            <a:fld id="{6D4F5A4B-361A-2D40-8606-05155F50ED43}" type="datetimeFigureOut">
              <a:rPr lang="ru-GB" smtClean="0"/>
              <a:t>25/05/2026</a:t>
            </a:fld>
            <a:endParaRPr lang="ru-GB"/>
          </a:p>
        </p:txBody>
      </p:sp>
      <p:sp>
        <p:nvSpPr>
          <p:cNvPr id="8" name="Footer Placeholder 7"/>
          <p:cNvSpPr>
            <a:spLocks noGrp="1"/>
          </p:cNvSpPr>
          <p:nvPr>
            <p:ph type="ftr" sz="quarter" idx="11"/>
          </p:nvPr>
        </p:nvSpPr>
        <p:spPr/>
        <p:txBody>
          <a:bodyPr/>
          <a:lstStyle/>
          <a:p>
            <a:endParaRPr lang="ru-GB"/>
          </a:p>
        </p:txBody>
      </p:sp>
      <p:sp>
        <p:nvSpPr>
          <p:cNvPr id="9" name="Slide Number Placeholder 8"/>
          <p:cNvSpPr>
            <a:spLocks noGrp="1"/>
          </p:cNvSpPr>
          <p:nvPr>
            <p:ph type="sldNum" sz="quarter" idx="12"/>
          </p:nvPr>
        </p:nvSpPr>
        <p:spPr/>
        <p:txBody>
          <a:bodyPr/>
          <a:lstStyle/>
          <a:p>
            <a:fld id="{48952E2D-03BE-2F4B-9B9A-424EE17A2807}" type="slidenum">
              <a:rPr lang="ru-GB" smtClean="0"/>
              <a:t>‹#›</a:t>
            </a:fld>
            <a:endParaRPr lang="ru-GB"/>
          </a:p>
        </p:txBody>
      </p:sp>
    </p:spTree>
    <p:extLst>
      <p:ext uri="{BB962C8B-B14F-4D97-AF65-F5344CB8AC3E}">
        <p14:creationId xmlns:p14="http://schemas.microsoft.com/office/powerpoint/2010/main" val="18428642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Date Placeholder 2"/>
          <p:cNvSpPr>
            <a:spLocks noGrp="1"/>
          </p:cNvSpPr>
          <p:nvPr>
            <p:ph type="dt" sz="half" idx="10"/>
          </p:nvPr>
        </p:nvSpPr>
        <p:spPr/>
        <p:txBody>
          <a:bodyPr/>
          <a:lstStyle/>
          <a:p>
            <a:fld id="{6D4F5A4B-361A-2D40-8606-05155F50ED43}" type="datetimeFigureOut">
              <a:rPr lang="ru-GB" smtClean="0"/>
              <a:t>25/05/2026</a:t>
            </a:fld>
            <a:endParaRPr lang="ru-GB"/>
          </a:p>
        </p:txBody>
      </p:sp>
      <p:sp>
        <p:nvSpPr>
          <p:cNvPr id="4" name="Footer Placeholder 3"/>
          <p:cNvSpPr>
            <a:spLocks noGrp="1"/>
          </p:cNvSpPr>
          <p:nvPr>
            <p:ph type="ftr" sz="quarter" idx="11"/>
          </p:nvPr>
        </p:nvSpPr>
        <p:spPr/>
        <p:txBody>
          <a:bodyPr/>
          <a:lstStyle/>
          <a:p>
            <a:endParaRPr lang="ru-GB"/>
          </a:p>
        </p:txBody>
      </p:sp>
      <p:sp>
        <p:nvSpPr>
          <p:cNvPr id="5" name="Slide Number Placeholder 4"/>
          <p:cNvSpPr>
            <a:spLocks noGrp="1"/>
          </p:cNvSpPr>
          <p:nvPr>
            <p:ph type="sldNum" sz="quarter" idx="12"/>
          </p:nvPr>
        </p:nvSpPr>
        <p:spPr/>
        <p:txBody>
          <a:bodyPr/>
          <a:lstStyle/>
          <a:p>
            <a:fld id="{48952E2D-03BE-2F4B-9B9A-424EE17A2807}" type="slidenum">
              <a:rPr lang="ru-GB" smtClean="0"/>
              <a:t>‹#›</a:t>
            </a:fld>
            <a:endParaRPr lang="ru-GB"/>
          </a:p>
        </p:txBody>
      </p:sp>
    </p:spTree>
    <p:extLst>
      <p:ext uri="{BB962C8B-B14F-4D97-AF65-F5344CB8AC3E}">
        <p14:creationId xmlns:p14="http://schemas.microsoft.com/office/powerpoint/2010/main" val="18563361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D4F5A4B-361A-2D40-8606-05155F50ED43}" type="datetimeFigureOut">
              <a:rPr lang="ru-GB" smtClean="0"/>
              <a:t>25/05/2026</a:t>
            </a:fld>
            <a:endParaRPr lang="ru-GB"/>
          </a:p>
        </p:txBody>
      </p:sp>
      <p:sp>
        <p:nvSpPr>
          <p:cNvPr id="3" name="Footer Placeholder 2"/>
          <p:cNvSpPr>
            <a:spLocks noGrp="1"/>
          </p:cNvSpPr>
          <p:nvPr>
            <p:ph type="ftr" sz="quarter" idx="11"/>
          </p:nvPr>
        </p:nvSpPr>
        <p:spPr/>
        <p:txBody>
          <a:bodyPr/>
          <a:lstStyle/>
          <a:p>
            <a:endParaRPr lang="ru-GB"/>
          </a:p>
        </p:txBody>
      </p:sp>
      <p:sp>
        <p:nvSpPr>
          <p:cNvPr id="4" name="Slide Number Placeholder 3"/>
          <p:cNvSpPr>
            <a:spLocks noGrp="1"/>
          </p:cNvSpPr>
          <p:nvPr>
            <p:ph type="sldNum" sz="quarter" idx="12"/>
          </p:nvPr>
        </p:nvSpPr>
        <p:spPr/>
        <p:txBody>
          <a:bodyPr/>
          <a:lstStyle/>
          <a:p>
            <a:fld id="{48952E2D-03BE-2F4B-9B9A-424EE17A2807}" type="slidenum">
              <a:rPr lang="ru-GB" smtClean="0"/>
              <a:t>‹#›</a:t>
            </a:fld>
            <a:endParaRPr lang="ru-GB"/>
          </a:p>
        </p:txBody>
      </p:sp>
    </p:spTree>
    <p:extLst>
      <p:ext uri="{BB962C8B-B14F-4D97-AF65-F5344CB8AC3E}">
        <p14:creationId xmlns:p14="http://schemas.microsoft.com/office/powerpoint/2010/main" val="40619337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ru-RU"/>
              <a:t>Образец заголовка</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Date Placeholder 4"/>
          <p:cNvSpPr>
            <a:spLocks noGrp="1"/>
          </p:cNvSpPr>
          <p:nvPr>
            <p:ph type="dt" sz="half" idx="10"/>
          </p:nvPr>
        </p:nvSpPr>
        <p:spPr/>
        <p:txBody>
          <a:bodyPr/>
          <a:lstStyle/>
          <a:p>
            <a:fld id="{6D4F5A4B-361A-2D40-8606-05155F50ED43}" type="datetimeFigureOut">
              <a:rPr lang="ru-GB" smtClean="0"/>
              <a:t>25/05/2026</a:t>
            </a:fld>
            <a:endParaRPr lang="ru-GB"/>
          </a:p>
        </p:txBody>
      </p:sp>
      <p:sp>
        <p:nvSpPr>
          <p:cNvPr id="6" name="Footer Placeholder 5"/>
          <p:cNvSpPr>
            <a:spLocks noGrp="1"/>
          </p:cNvSpPr>
          <p:nvPr>
            <p:ph type="ftr" sz="quarter" idx="11"/>
          </p:nvPr>
        </p:nvSpPr>
        <p:spPr/>
        <p:txBody>
          <a:bodyPr/>
          <a:lstStyle/>
          <a:p>
            <a:endParaRPr lang="ru-GB"/>
          </a:p>
        </p:txBody>
      </p:sp>
      <p:sp>
        <p:nvSpPr>
          <p:cNvPr id="7" name="Slide Number Placeholder 6"/>
          <p:cNvSpPr>
            <a:spLocks noGrp="1"/>
          </p:cNvSpPr>
          <p:nvPr>
            <p:ph type="sldNum" sz="quarter" idx="12"/>
          </p:nvPr>
        </p:nvSpPr>
        <p:spPr/>
        <p:txBody>
          <a:bodyPr/>
          <a:lstStyle/>
          <a:p>
            <a:fld id="{48952E2D-03BE-2F4B-9B9A-424EE17A2807}" type="slidenum">
              <a:rPr lang="ru-GB" smtClean="0"/>
              <a:t>‹#›</a:t>
            </a:fld>
            <a:endParaRPr lang="ru-GB"/>
          </a:p>
        </p:txBody>
      </p:sp>
    </p:spTree>
    <p:extLst>
      <p:ext uri="{BB962C8B-B14F-4D97-AF65-F5344CB8AC3E}">
        <p14:creationId xmlns:p14="http://schemas.microsoft.com/office/powerpoint/2010/main" val="12587904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ru-RU"/>
              <a:t>Образец заголовка</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a:t>Вставка рисунка</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Date Placeholder 4"/>
          <p:cNvSpPr>
            <a:spLocks noGrp="1"/>
          </p:cNvSpPr>
          <p:nvPr>
            <p:ph type="dt" sz="half" idx="10"/>
          </p:nvPr>
        </p:nvSpPr>
        <p:spPr/>
        <p:txBody>
          <a:bodyPr/>
          <a:lstStyle/>
          <a:p>
            <a:fld id="{6D4F5A4B-361A-2D40-8606-05155F50ED43}" type="datetimeFigureOut">
              <a:rPr lang="ru-GB" smtClean="0"/>
              <a:t>25/05/2026</a:t>
            </a:fld>
            <a:endParaRPr lang="ru-GB"/>
          </a:p>
        </p:txBody>
      </p:sp>
      <p:sp>
        <p:nvSpPr>
          <p:cNvPr id="6" name="Footer Placeholder 5"/>
          <p:cNvSpPr>
            <a:spLocks noGrp="1"/>
          </p:cNvSpPr>
          <p:nvPr>
            <p:ph type="ftr" sz="quarter" idx="11"/>
          </p:nvPr>
        </p:nvSpPr>
        <p:spPr/>
        <p:txBody>
          <a:bodyPr/>
          <a:lstStyle/>
          <a:p>
            <a:endParaRPr lang="ru-GB"/>
          </a:p>
        </p:txBody>
      </p:sp>
      <p:sp>
        <p:nvSpPr>
          <p:cNvPr id="7" name="Slide Number Placeholder 6"/>
          <p:cNvSpPr>
            <a:spLocks noGrp="1"/>
          </p:cNvSpPr>
          <p:nvPr>
            <p:ph type="sldNum" sz="quarter" idx="12"/>
          </p:nvPr>
        </p:nvSpPr>
        <p:spPr/>
        <p:txBody>
          <a:bodyPr/>
          <a:lstStyle/>
          <a:p>
            <a:fld id="{48952E2D-03BE-2F4B-9B9A-424EE17A2807}" type="slidenum">
              <a:rPr lang="ru-GB" smtClean="0"/>
              <a:t>‹#›</a:t>
            </a:fld>
            <a:endParaRPr lang="ru-GB"/>
          </a:p>
        </p:txBody>
      </p:sp>
    </p:spTree>
    <p:extLst>
      <p:ext uri="{BB962C8B-B14F-4D97-AF65-F5344CB8AC3E}">
        <p14:creationId xmlns:p14="http://schemas.microsoft.com/office/powerpoint/2010/main" val="8371822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Vertical Text Placeholder 2"/>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6D4F5A4B-361A-2D40-8606-05155F50ED43}" type="datetimeFigureOut">
              <a:rPr lang="ru-GB" smtClean="0"/>
              <a:t>25/05/2026</a:t>
            </a:fld>
            <a:endParaRPr lang="ru-GB"/>
          </a:p>
        </p:txBody>
      </p:sp>
      <p:sp>
        <p:nvSpPr>
          <p:cNvPr id="5" name="Footer Placeholder 4"/>
          <p:cNvSpPr>
            <a:spLocks noGrp="1"/>
          </p:cNvSpPr>
          <p:nvPr>
            <p:ph type="ftr" sz="quarter" idx="11"/>
          </p:nvPr>
        </p:nvSpPr>
        <p:spPr/>
        <p:txBody>
          <a:bodyPr/>
          <a:lstStyle/>
          <a:p>
            <a:endParaRPr lang="ru-GB"/>
          </a:p>
        </p:txBody>
      </p:sp>
      <p:sp>
        <p:nvSpPr>
          <p:cNvPr id="6" name="Slide Number Placeholder 5"/>
          <p:cNvSpPr>
            <a:spLocks noGrp="1"/>
          </p:cNvSpPr>
          <p:nvPr>
            <p:ph type="sldNum" sz="quarter" idx="12"/>
          </p:nvPr>
        </p:nvSpPr>
        <p:spPr/>
        <p:txBody>
          <a:bodyPr/>
          <a:lstStyle/>
          <a:p>
            <a:fld id="{48952E2D-03BE-2F4B-9B9A-424EE17A2807}" type="slidenum">
              <a:rPr lang="ru-GB" smtClean="0"/>
              <a:t>‹#›</a:t>
            </a:fld>
            <a:endParaRPr lang="ru-GB"/>
          </a:p>
        </p:txBody>
      </p:sp>
    </p:spTree>
    <p:extLst>
      <p:ext uri="{BB962C8B-B14F-4D97-AF65-F5344CB8AC3E}">
        <p14:creationId xmlns:p14="http://schemas.microsoft.com/office/powerpoint/2010/main" val="35199745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ru-RU"/>
              <a:t>Образец заголовка</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6D4F5A4B-361A-2D40-8606-05155F50ED43}" type="datetimeFigureOut">
              <a:rPr lang="ru-GB" smtClean="0"/>
              <a:t>25/05/2026</a:t>
            </a:fld>
            <a:endParaRPr lang="ru-GB"/>
          </a:p>
        </p:txBody>
      </p:sp>
      <p:sp>
        <p:nvSpPr>
          <p:cNvPr id="5" name="Footer Placeholder 4"/>
          <p:cNvSpPr>
            <a:spLocks noGrp="1"/>
          </p:cNvSpPr>
          <p:nvPr>
            <p:ph type="ftr" sz="quarter" idx="11"/>
          </p:nvPr>
        </p:nvSpPr>
        <p:spPr/>
        <p:txBody>
          <a:bodyPr/>
          <a:lstStyle/>
          <a:p>
            <a:endParaRPr lang="ru-GB"/>
          </a:p>
        </p:txBody>
      </p:sp>
      <p:sp>
        <p:nvSpPr>
          <p:cNvPr id="6" name="Slide Number Placeholder 5"/>
          <p:cNvSpPr>
            <a:spLocks noGrp="1"/>
          </p:cNvSpPr>
          <p:nvPr>
            <p:ph type="sldNum" sz="quarter" idx="12"/>
          </p:nvPr>
        </p:nvSpPr>
        <p:spPr/>
        <p:txBody>
          <a:bodyPr/>
          <a:lstStyle/>
          <a:p>
            <a:fld id="{48952E2D-03BE-2F4B-9B9A-424EE17A2807}" type="slidenum">
              <a:rPr lang="ru-GB" smtClean="0"/>
              <a:t>‹#›</a:t>
            </a:fld>
            <a:endParaRPr lang="ru-GB"/>
          </a:p>
        </p:txBody>
      </p:sp>
    </p:spTree>
    <p:extLst>
      <p:ext uri="{BB962C8B-B14F-4D97-AF65-F5344CB8AC3E}">
        <p14:creationId xmlns:p14="http://schemas.microsoft.com/office/powerpoint/2010/main" val="15700582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D4F5A4B-361A-2D40-8606-05155F50ED43}" type="datetimeFigureOut">
              <a:rPr lang="ru-GB" smtClean="0"/>
              <a:t>25/05/2026</a:t>
            </a:fld>
            <a:endParaRPr lang="ru-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952E2D-03BE-2F4B-9B9A-424EE17A2807}" type="slidenum">
              <a:rPr lang="ru-GB" smtClean="0"/>
              <a:t>‹#›</a:t>
            </a:fld>
            <a:endParaRPr lang="ru-GB"/>
          </a:p>
        </p:txBody>
      </p:sp>
    </p:spTree>
    <p:extLst>
      <p:ext uri="{BB962C8B-B14F-4D97-AF65-F5344CB8AC3E}">
        <p14:creationId xmlns:p14="http://schemas.microsoft.com/office/powerpoint/2010/main" val="313148846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404040"/>
        </a:solid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5E9DBC8-9BCE-DE50-1D6C-AD7BD8C255F8}"/>
              </a:ext>
            </a:extLst>
          </p:cNvPr>
          <p:cNvSpPr>
            <a:spLocks noGrp="1"/>
          </p:cNvSpPr>
          <p:nvPr>
            <p:ph type="ctrTitle"/>
          </p:nvPr>
        </p:nvSpPr>
        <p:spPr>
          <a:xfrm>
            <a:off x="2717800" y="1943364"/>
            <a:ext cx="10515600" cy="1325563"/>
          </a:xfrm>
        </p:spPr>
        <p:txBody>
          <a:bodyPr vert="horz" lIns="91440" tIns="45720" rIns="91440" bIns="45720" rtlCol="0" anchor="ctr">
            <a:normAutofit/>
          </a:bodyPr>
          <a:lstStyle/>
          <a:p>
            <a:pPr algn="l"/>
            <a:r>
              <a:rPr lang="en-US" sz="4400" kern="1200" dirty="0">
                <a:solidFill>
                  <a:schemeClr val="tx1"/>
                </a:solidFill>
                <a:latin typeface="+mj-lt"/>
                <a:ea typeface="+mj-ea"/>
                <a:cs typeface="+mj-cs"/>
              </a:rPr>
              <a:t>COM 398 Systems Security</a:t>
            </a:r>
          </a:p>
        </p:txBody>
      </p:sp>
      <p:sp>
        <p:nvSpPr>
          <p:cNvPr id="3" name="Подзаголовок 2">
            <a:extLst>
              <a:ext uri="{FF2B5EF4-FFF2-40B4-BE49-F238E27FC236}">
                <a16:creationId xmlns:a16="http://schemas.microsoft.com/office/drawing/2014/main" id="{18C9D928-C0E7-B5A2-FDA9-BEAF2B99265D}"/>
              </a:ext>
            </a:extLst>
          </p:cNvPr>
          <p:cNvSpPr>
            <a:spLocks noGrp="1"/>
          </p:cNvSpPr>
          <p:nvPr>
            <p:ph type="subTitle" idx="1"/>
          </p:nvPr>
        </p:nvSpPr>
        <p:spPr>
          <a:xfrm>
            <a:off x="4504266" y="3268927"/>
            <a:ext cx="3869267" cy="817034"/>
          </a:xfrm>
        </p:spPr>
        <p:txBody>
          <a:bodyPr vert="horz" lIns="91440" tIns="45720" rIns="91440" bIns="45720" rtlCol="0">
            <a:normAutofit/>
          </a:bodyPr>
          <a:lstStyle/>
          <a:p>
            <a:pPr algn="l"/>
            <a:r>
              <a:rPr lang="en-US" sz="3200" dirty="0"/>
              <a:t>Course Work 2</a:t>
            </a:r>
          </a:p>
        </p:txBody>
      </p:sp>
      <p:sp>
        <p:nvSpPr>
          <p:cNvPr id="4" name="TextBox 3">
            <a:extLst>
              <a:ext uri="{FF2B5EF4-FFF2-40B4-BE49-F238E27FC236}">
                <a16:creationId xmlns:a16="http://schemas.microsoft.com/office/drawing/2014/main" id="{6D5086F0-D07B-EC7B-DCE0-972376EDF445}"/>
              </a:ext>
            </a:extLst>
          </p:cNvPr>
          <p:cNvSpPr txBox="1"/>
          <p:nvPr/>
        </p:nvSpPr>
        <p:spPr>
          <a:xfrm>
            <a:off x="4309534" y="5916744"/>
            <a:ext cx="4766734" cy="817034"/>
          </a:xfrm>
          <a:prstGeom prst="rect">
            <a:avLst/>
          </a:prstGeom>
        </p:spPr>
        <p:txBody>
          <a:bodyPr vert="horz" lIns="91440" tIns="45720" rIns="91440" bIns="45720" rtlCol="0">
            <a:normAutofit/>
          </a:bodyPr>
          <a:lstStyle/>
          <a:p>
            <a:pPr>
              <a:lnSpc>
                <a:spcPct val="90000"/>
              </a:lnSpc>
              <a:spcAft>
                <a:spcPts val="600"/>
              </a:spcAft>
            </a:pPr>
            <a:r>
              <a:rPr lang="en-US" sz="2000" dirty="0"/>
              <a:t>By Artom Kovalenko B00974470</a:t>
            </a:r>
          </a:p>
        </p:txBody>
      </p:sp>
    </p:spTree>
    <p:extLst>
      <p:ext uri="{BB962C8B-B14F-4D97-AF65-F5344CB8AC3E}">
        <p14:creationId xmlns:p14="http://schemas.microsoft.com/office/powerpoint/2010/main" val="1559695531"/>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B213676-C798-6B65-1C27-25EF28F342F0}"/>
              </a:ext>
            </a:extLst>
          </p:cNvPr>
          <p:cNvSpPr>
            <a:spLocks noGrp="1"/>
          </p:cNvSpPr>
          <p:nvPr>
            <p:ph type="title"/>
          </p:nvPr>
        </p:nvSpPr>
        <p:spPr>
          <a:xfrm>
            <a:off x="761800" y="762001"/>
            <a:ext cx="5334197" cy="1708242"/>
          </a:xfrm>
        </p:spPr>
        <p:txBody>
          <a:bodyPr anchor="ctr">
            <a:normAutofit/>
          </a:bodyPr>
          <a:lstStyle/>
          <a:p>
            <a:r>
              <a:rPr lang="en-US" sz="4000"/>
              <a:t>Explanation of TCP/IP protocols suit</a:t>
            </a:r>
            <a:endParaRPr lang="ru-GB" sz="4000"/>
          </a:p>
        </p:txBody>
      </p:sp>
      <p:sp>
        <p:nvSpPr>
          <p:cNvPr id="3" name="Объект 2">
            <a:extLst>
              <a:ext uri="{FF2B5EF4-FFF2-40B4-BE49-F238E27FC236}">
                <a16:creationId xmlns:a16="http://schemas.microsoft.com/office/drawing/2014/main" id="{011903F6-3A4C-CCE1-CC29-9A6A73F90737}"/>
              </a:ext>
            </a:extLst>
          </p:cNvPr>
          <p:cNvSpPr>
            <a:spLocks noGrp="1"/>
          </p:cNvSpPr>
          <p:nvPr>
            <p:ph idx="1"/>
          </p:nvPr>
        </p:nvSpPr>
        <p:spPr>
          <a:xfrm>
            <a:off x="386116" y="2569481"/>
            <a:ext cx="5979242" cy="3769835"/>
          </a:xfrm>
        </p:spPr>
        <p:txBody>
          <a:bodyPr anchor="ctr">
            <a:noAutofit/>
          </a:bodyPr>
          <a:lstStyle/>
          <a:p>
            <a:r>
              <a:rPr lang="en-US" sz="1600" dirty="0"/>
              <a:t>Transmission Control Protocol(TCP) – The transport-layer protocol  is one of the TCP/IP protocols which responsible for reliable delivery.</a:t>
            </a:r>
          </a:p>
          <a:p>
            <a:r>
              <a:rPr lang="en-US" sz="1600" dirty="0"/>
              <a:t>It creates a logical connection between of two entities in various systems and each entity keeps tracking of incoming and outgoing segment to both entities to control the flow of segments and to recover damages segments or loosing them.</a:t>
            </a:r>
          </a:p>
          <a:p>
            <a:endParaRPr lang="en-US" sz="1600" dirty="0"/>
          </a:p>
          <a:p>
            <a:r>
              <a:rPr lang="en-US" sz="1600" dirty="0"/>
              <a:t>User Datagram protocol (UDP) – Is another transport-level protocol of TCP/IP protocol suit. It used to send the datagrams and packets to hosts on Internet Protocol but</a:t>
            </a:r>
            <a:r>
              <a:rPr lang="ru-RU" sz="1600" dirty="0"/>
              <a:t> </a:t>
            </a:r>
            <a:r>
              <a:rPr lang="en-GB" sz="1600" dirty="0"/>
              <a:t>unlike TCP, it does not keep records of what has sent, so it makes UDP to not have a guarantee to deliver, preservation of sequence, or protection against of duplications.</a:t>
            </a:r>
          </a:p>
          <a:p>
            <a:r>
              <a:rPr lang="en-GB" sz="1600" dirty="0"/>
              <a:t>UDP has a minimum usage of protocol mechanisms while processes and some transaction-oriented applications make use of it</a:t>
            </a:r>
            <a:endParaRPr lang="en-US" sz="1600" dirty="0"/>
          </a:p>
        </p:txBody>
      </p:sp>
      <p:pic>
        <p:nvPicPr>
          <p:cNvPr id="4" name="Picture 4" descr="Светящаяся панель серверной комнаты">
            <a:extLst>
              <a:ext uri="{FF2B5EF4-FFF2-40B4-BE49-F238E27FC236}">
                <a16:creationId xmlns:a16="http://schemas.microsoft.com/office/drawing/2014/main" id="{D12FDEAC-7E74-CAAB-EF29-AA4CCAF19816}"/>
              </a:ext>
            </a:extLst>
          </p:cNvPr>
          <p:cNvPicPr>
            <a:picLocks noChangeAspect="1"/>
          </p:cNvPicPr>
          <p:nvPr/>
        </p:nvPicPr>
        <p:blipFill>
          <a:blip r:embed="rId2"/>
          <a:srcRect l="20020" r="28144" b="-1"/>
          <a:stretch>
            <a:fillRect/>
          </a:stretch>
        </p:blipFill>
        <p:spPr>
          <a:xfrm>
            <a:off x="6857797" y="-10886"/>
            <a:ext cx="5334204" cy="6868886"/>
          </a:xfrm>
          <a:prstGeom prst="rect">
            <a:avLst/>
          </a:prstGeom>
          <a:effectLst>
            <a:outerShdw blurRad="127000" dist="50800" dir="10800000" sx="99000" sy="99000" algn="r" rotWithShape="0">
              <a:prstClr val="black">
                <a:alpha val="40000"/>
              </a:prstClr>
            </a:outerShdw>
          </a:effectLst>
        </p:spPr>
      </p:pic>
    </p:spTree>
    <p:extLst>
      <p:ext uri="{BB962C8B-B14F-4D97-AF65-F5344CB8AC3E}">
        <p14:creationId xmlns:p14="http://schemas.microsoft.com/office/powerpoint/2010/main" val="35053413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3C6165FF-5D4B-1285-C399-ECBD861D3D02}"/>
              </a:ext>
            </a:extLst>
          </p:cNvPr>
          <p:cNvSpPr>
            <a:spLocks noGrp="1"/>
          </p:cNvSpPr>
          <p:nvPr>
            <p:ph type="title"/>
          </p:nvPr>
        </p:nvSpPr>
        <p:spPr>
          <a:xfrm>
            <a:off x="761800" y="762001"/>
            <a:ext cx="5334197" cy="1708242"/>
          </a:xfrm>
        </p:spPr>
        <p:txBody>
          <a:bodyPr anchor="ctr">
            <a:normAutofit/>
          </a:bodyPr>
          <a:lstStyle/>
          <a:p>
            <a:r>
              <a:rPr lang="en-US" sz="4000"/>
              <a:t>Explanation of TCP/IP protocols suit </a:t>
            </a:r>
            <a:endParaRPr lang="ru-GB" sz="4000"/>
          </a:p>
        </p:txBody>
      </p:sp>
      <p:sp>
        <p:nvSpPr>
          <p:cNvPr id="3" name="Объект 2">
            <a:extLst>
              <a:ext uri="{FF2B5EF4-FFF2-40B4-BE49-F238E27FC236}">
                <a16:creationId xmlns:a16="http://schemas.microsoft.com/office/drawing/2014/main" id="{AAC2FD6B-2BA8-DF06-13F3-F9487E1BD01F}"/>
              </a:ext>
            </a:extLst>
          </p:cNvPr>
          <p:cNvSpPr>
            <a:spLocks noGrp="1"/>
          </p:cNvSpPr>
          <p:nvPr>
            <p:ph idx="1"/>
          </p:nvPr>
        </p:nvSpPr>
        <p:spPr>
          <a:xfrm>
            <a:off x="761800" y="2470244"/>
            <a:ext cx="5334197" cy="3769835"/>
          </a:xfrm>
        </p:spPr>
        <p:txBody>
          <a:bodyPr anchor="ctr">
            <a:normAutofit/>
          </a:bodyPr>
          <a:lstStyle/>
          <a:p>
            <a:r>
              <a:rPr lang="en-GB" sz="1900"/>
              <a:t>Internet Protocol (IP) </a:t>
            </a:r>
            <a:r>
              <a:rPr lang="en-US" sz="1900"/>
              <a:t>–</a:t>
            </a:r>
            <a:r>
              <a:rPr lang="en-GB" sz="1900"/>
              <a:t>  Network layer-protocol which responsible for routing function through the networks. It used to implement in end systems and routers. Its task to deliver packets from one host (source) to another host(destination) and which depends on the packet headers at IP addresses.</a:t>
            </a:r>
          </a:p>
          <a:p>
            <a:r>
              <a:rPr lang="en-GB" sz="1900"/>
              <a:t>The difference between the TCP and IP is that TCP is responsible for safety of the incoming and outgoing data by tracking, error-checking and ordering it. While IP is responsible only for routing data between the network. </a:t>
            </a:r>
          </a:p>
          <a:p>
            <a:endParaRPr lang="en-GB" sz="1900"/>
          </a:p>
        </p:txBody>
      </p:sp>
      <p:pic>
        <p:nvPicPr>
          <p:cNvPr id="4" name="Picture 4" descr="Светящаяся панель серверной комнаты">
            <a:extLst>
              <a:ext uri="{FF2B5EF4-FFF2-40B4-BE49-F238E27FC236}">
                <a16:creationId xmlns:a16="http://schemas.microsoft.com/office/drawing/2014/main" id="{8E01ED7B-AFCD-E87C-FBFD-136CA5025D0B}"/>
              </a:ext>
            </a:extLst>
          </p:cNvPr>
          <p:cNvPicPr>
            <a:picLocks noChangeAspect="1"/>
          </p:cNvPicPr>
          <p:nvPr/>
        </p:nvPicPr>
        <p:blipFill>
          <a:blip r:embed="rId2"/>
          <a:srcRect l="20020" r="28144" b="-1"/>
          <a:stretch>
            <a:fillRect/>
          </a:stretch>
        </p:blipFill>
        <p:spPr>
          <a:xfrm>
            <a:off x="6857797" y="-10886"/>
            <a:ext cx="5334204" cy="6868886"/>
          </a:xfrm>
          <a:prstGeom prst="rect">
            <a:avLst/>
          </a:prstGeom>
          <a:effectLst>
            <a:outerShdw blurRad="127000" dist="50800" dir="10800000" sx="99000" sy="99000" algn="r" rotWithShape="0">
              <a:prstClr val="black">
                <a:alpha val="40000"/>
              </a:prstClr>
            </a:outerShdw>
          </a:effectLst>
        </p:spPr>
      </p:pic>
    </p:spTree>
    <p:extLst>
      <p:ext uri="{BB962C8B-B14F-4D97-AF65-F5344CB8AC3E}">
        <p14:creationId xmlns:p14="http://schemas.microsoft.com/office/powerpoint/2010/main" val="3089744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A46DFE5-9B23-6189-F714-98465961755B}"/>
              </a:ext>
            </a:extLst>
          </p:cNvPr>
          <p:cNvSpPr>
            <a:spLocks noGrp="1"/>
          </p:cNvSpPr>
          <p:nvPr>
            <p:ph type="title"/>
          </p:nvPr>
        </p:nvSpPr>
        <p:spPr>
          <a:xfrm>
            <a:off x="761800" y="762001"/>
            <a:ext cx="5334197" cy="1708242"/>
          </a:xfrm>
        </p:spPr>
        <p:txBody>
          <a:bodyPr anchor="ctr">
            <a:normAutofit/>
          </a:bodyPr>
          <a:lstStyle/>
          <a:p>
            <a:r>
              <a:rPr lang="en-US" sz="4000"/>
              <a:t>The work of the TCP 3-Way Handshake Process</a:t>
            </a:r>
            <a:endParaRPr lang="ru-GB" sz="4000"/>
          </a:p>
        </p:txBody>
      </p:sp>
      <p:sp>
        <p:nvSpPr>
          <p:cNvPr id="3" name="Объект 2">
            <a:extLst>
              <a:ext uri="{FF2B5EF4-FFF2-40B4-BE49-F238E27FC236}">
                <a16:creationId xmlns:a16="http://schemas.microsoft.com/office/drawing/2014/main" id="{0DD1F792-83CB-6DB1-183B-14AE444562DB}"/>
              </a:ext>
            </a:extLst>
          </p:cNvPr>
          <p:cNvSpPr>
            <a:spLocks noGrp="1"/>
          </p:cNvSpPr>
          <p:nvPr>
            <p:ph idx="1"/>
          </p:nvPr>
        </p:nvSpPr>
        <p:spPr>
          <a:xfrm>
            <a:off x="761800" y="2470244"/>
            <a:ext cx="5334197" cy="3769835"/>
          </a:xfrm>
        </p:spPr>
        <p:txBody>
          <a:bodyPr anchor="ctr">
            <a:normAutofit/>
          </a:bodyPr>
          <a:lstStyle/>
          <a:p>
            <a:pPr marL="0" indent="0">
              <a:buNone/>
            </a:pPr>
            <a:r>
              <a:rPr lang="en-GB" sz="1700"/>
              <a:t>This method TCP uses to establish the connection. </a:t>
            </a:r>
          </a:p>
          <a:p>
            <a:pPr marL="0" indent="0">
              <a:buNone/>
            </a:pPr>
            <a:r>
              <a:rPr lang="en-US" sz="1700"/>
              <a:t>By sending a SYN packet to the server, a client system requests a TCP connection; this allows server to determine the client's address, port number, and initial sequence number. The server will respond to the client with a SYN-ACK packet, which includes a sequence number for the server and increases the client's sequence number to confirm receipt of the SYN packet, because it holds records of all known TCP connections. The connection will be regarded as established once the client sends the ACK packet back to the server with an updated server sequence number.</a:t>
            </a:r>
            <a:endParaRPr lang="ru-GB" sz="1700"/>
          </a:p>
        </p:txBody>
      </p:sp>
      <p:pic>
        <p:nvPicPr>
          <p:cNvPr id="6" name="Picture 4" descr="Светящаяся панель серверной комнаты">
            <a:extLst>
              <a:ext uri="{FF2B5EF4-FFF2-40B4-BE49-F238E27FC236}">
                <a16:creationId xmlns:a16="http://schemas.microsoft.com/office/drawing/2014/main" id="{A0542E96-690A-B4DF-2660-B85CAF4BCC92}"/>
              </a:ext>
            </a:extLst>
          </p:cNvPr>
          <p:cNvPicPr>
            <a:picLocks noChangeAspect="1"/>
          </p:cNvPicPr>
          <p:nvPr/>
        </p:nvPicPr>
        <p:blipFill>
          <a:blip r:embed="rId2"/>
          <a:srcRect l="20020" r="28144" b="-1"/>
          <a:stretch>
            <a:fillRect/>
          </a:stretch>
        </p:blipFill>
        <p:spPr>
          <a:xfrm>
            <a:off x="6857797" y="-10886"/>
            <a:ext cx="5334204" cy="6868886"/>
          </a:xfrm>
          <a:prstGeom prst="rect">
            <a:avLst/>
          </a:prstGeom>
          <a:effectLst>
            <a:outerShdw blurRad="127000" dist="50800" dir="10800000" sx="99000" sy="99000" algn="r" rotWithShape="0">
              <a:prstClr val="black">
                <a:alpha val="40000"/>
              </a:prstClr>
            </a:outerShdw>
          </a:effectLst>
        </p:spPr>
      </p:pic>
    </p:spTree>
    <p:extLst>
      <p:ext uri="{BB962C8B-B14F-4D97-AF65-F5344CB8AC3E}">
        <p14:creationId xmlns:p14="http://schemas.microsoft.com/office/powerpoint/2010/main" val="21140758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98F1F7D-BF56-6CEF-FE8E-768AF603EFFB}"/>
              </a:ext>
            </a:extLst>
          </p:cNvPr>
          <p:cNvSpPr>
            <a:spLocks noGrp="1"/>
          </p:cNvSpPr>
          <p:nvPr>
            <p:ph type="title"/>
          </p:nvPr>
        </p:nvSpPr>
        <p:spPr>
          <a:xfrm>
            <a:off x="457000" y="617921"/>
            <a:ext cx="6298219" cy="1708242"/>
          </a:xfrm>
        </p:spPr>
        <p:txBody>
          <a:bodyPr anchor="ctr">
            <a:normAutofit/>
          </a:bodyPr>
          <a:lstStyle/>
          <a:p>
            <a:r>
              <a:rPr lang="en-GB" sz="4000" dirty="0"/>
              <a:t>DoS, DDoS and its subtypes</a:t>
            </a:r>
            <a:endParaRPr lang="ru-GB" sz="4000" dirty="0"/>
          </a:p>
        </p:txBody>
      </p:sp>
      <p:sp>
        <p:nvSpPr>
          <p:cNvPr id="3" name="Объект 2">
            <a:extLst>
              <a:ext uri="{FF2B5EF4-FFF2-40B4-BE49-F238E27FC236}">
                <a16:creationId xmlns:a16="http://schemas.microsoft.com/office/drawing/2014/main" id="{D6247F1E-6A4C-A0BF-862A-3E2B0850D3F2}"/>
              </a:ext>
            </a:extLst>
          </p:cNvPr>
          <p:cNvSpPr>
            <a:spLocks noGrp="1"/>
          </p:cNvSpPr>
          <p:nvPr>
            <p:ph idx="1"/>
          </p:nvPr>
        </p:nvSpPr>
        <p:spPr>
          <a:xfrm>
            <a:off x="761800" y="2470244"/>
            <a:ext cx="5334197" cy="3769835"/>
          </a:xfrm>
        </p:spPr>
        <p:txBody>
          <a:bodyPr anchor="ctr">
            <a:normAutofit/>
          </a:bodyPr>
          <a:lstStyle/>
          <a:p>
            <a:r>
              <a:rPr lang="en-GB" sz="1300" dirty="0"/>
              <a:t>Denial-Of-Service (DoS) </a:t>
            </a:r>
            <a:r>
              <a:rPr lang="en-US" sz="1300" dirty="0"/>
              <a:t>– an attack from a single source designed to machine or network in order overwhelming it with traffic or exploiting vulnerabilities by sending a lot of requests.</a:t>
            </a:r>
          </a:p>
          <a:p>
            <a:r>
              <a:rPr lang="en-US" sz="1300" dirty="0"/>
              <a:t>Distributed Denial-Of-Service (DDoS) – an attack from many sources designed to overload with many requests machine or network. Sometimes using infected machines or “zombie” machines to send traffic to the target which makes more difficult to track the host of attack and get attack defensed.</a:t>
            </a:r>
          </a:p>
          <a:p>
            <a:r>
              <a:rPr lang="en-US" sz="1300" dirty="0"/>
              <a:t>Subtypes:</a:t>
            </a:r>
          </a:p>
          <a:p>
            <a:pPr marL="457200" indent="-457200">
              <a:buFont typeface="+mj-lt"/>
              <a:buAutoNum type="arabicPeriod"/>
            </a:pPr>
            <a:r>
              <a:rPr lang="en-US" sz="1300" dirty="0"/>
              <a:t>Volumetric attacks – attacks by flooding the target's bandwidth with an enormous amount of data</a:t>
            </a:r>
          </a:p>
          <a:p>
            <a:pPr marL="457200" indent="-457200">
              <a:buFont typeface="+mj-lt"/>
              <a:buAutoNum type="arabicPeriod"/>
            </a:pPr>
            <a:r>
              <a:rPr lang="en-US" sz="1300" dirty="0"/>
              <a:t>Protocol attacks – attack that exploits vulnerabilities of network protocols to exhaust a server’s resources </a:t>
            </a:r>
          </a:p>
          <a:p>
            <a:pPr marL="457200" indent="-457200">
              <a:buFont typeface="+mj-lt"/>
              <a:buAutoNum type="arabicPeriod"/>
            </a:pPr>
            <a:r>
              <a:rPr lang="en-US" sz="1300" dirty="0"/>
              <a:t>Application-layer attacks – certain application or services, with the goal of crashing them by sending them too many requests that appear to legitimate.</a:t>
            </a:r>
          </a:p>
        </p:txBody>
      </p:sp>
      <p:pic>
        <p:nvPicPr>
          <p:cNvPr id="4" name="Picture 4" descr="Светящаяся панель серверной комнаты">
            <a:extLst>
              <a:ext uri="{FF2B5EF4-FFF2-40B4-BE49-F238E27FC236}">
                <a16:creationId xmlns:a16="http://schemas.microsoft.com/office/drawing/2014/main" id="{3930FA58-6CF6-0FA5-B4DC-C8400D7DE6FF}"/>
              </a:ext>
            </a:extLst>
          </p:cNvPr>
          <p:cNvPicPr>
            <a:picLocks noChangeAspect="1"/>
          </p:cNvPicPr>
          <p:nvPr/>
        </p:nvPicPr>
        <p:blipFill>
          <a:blip r:embed="rId2"/>
          <a:srcRect l="20020" r="28144" b="-1"/>
          <a:stretch>
            <a:fillRect/>
          </a:stretch>
        </p:blipFill>
        <p:spPr>
          <a:xfrm>
            <a:off x="6857797" y="-10886"/>
            <a:ext cx="5334204" cy="6868886"/>
          </a:xfrm>
          <a:prstGeom prst="rect">
            <a:avLst/>
          </a:prstGeom>
          <a:effectLst>
            <a:outerShdw blurRad="127000" dist="50800" dir="10800000" sx="99000" sy="99000" algn="r" rotWithShape="0">
              <a:prstClr val="black">
                <a:alpha val="40000"/>
              </a:prstClr>
            </a:outerShdw>
          </a:effectLst>
        </p:spPr>
      </p:pic>
    </p:spTree>
    <p:extLst>
      <p:ext uri="{BB962C8B-B14F-4D97-AF65-F5344CB8AC3E}">
        <p14:creationId xmlns:p14="http://schemas.microsoft.com/office/powerpoint/2010/main" val="18518336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AD22022-B465-B261-BD6C-34103BE2056C}"/>
              </a:ext>
            </a:extLst>
          </p:cNvPr>
          <p:cNvSpPr>
            <a:spLocks noGrp="1"/>
          </p:cNvSpPr>
          <p:nvPr>
            <p:ph type="title"/>
          </p:nvPr>
        </p:nvSpPr>
        <p:spPr>
          <a:xfrm>
            <a:off x="516057" y="217727"/>
            <a:ext cx="4443154" cy="1087819"/>
          </a:xfrm>
        </p:spPr>
        <p:txBody>
          <a:bodyPr anchor="b">
            <a:normAutofit/>
          </a:bodyPr>
          <a:lstStyle/>
          <a:p>
            <a:r>
              <a:rPr lang="en-US" sz="3400" dirty="0"/>
              <a:t>Identifying the type of the attack</a:t>
            </a:r>
            <a:endParaRPr lang="ru-GB" sz="3400" dirty="0"/>
          </a:p>
        </p:txBody>
      </p:sp>
      <p:sp>
        <p:nvSpPr>
          <p:cNvPr id="3" name="Объект 2">
            <a:extLst>
              <a:ext uri="{FF2B5EF4-FFF2-40B4-BE49-F238E27FC236}">
                <a16:creationId xmlns:a16="http://schemas.microsoft.com/office/drawing/2014/main" id="{CE156C5A-C6E3-6504-21AE-CA171CEB6F93}"/>
              </a:ext>
            </a:extLst>
          </p:cNvPr>
          <p:cNvSpPr>
            <a:spLocks noGrp="1"/>
          </p:cNvSpPr>
          <p:nvPr>
            <p:ph idx="1"/>
          </p:nvPr>
        </p:nvSpPr>
        <p:spPr>
          <a:xfrm>
            <a:off x="51584" y="1717628"/>
            <a:ext cx="5372100" cy="4674534"/>
          </a:xfrm>
        </p:spPr>
        <p:txBody>
          <a:bodyPr>
            <a:normAutofit fontScale="77500" lnSpcReduction="20000"/>
          </a:bodyPr>
          <a:lstStyle/>
          <a:p>
            <a:r>
              <a:rPr lang="en-GB" sz="1600" dirty="0"/>
              <a:t>By looking on the file in </a:t>
            </a:r>
            <a:r>
              <a:rPr lang="en-GB" sz="1600" dirty="0" err="1"/>
              <a:t>wireshark</a:t>
            </a:r>
            <a:r>
              <a:rPr lang="en-GB" sz="1600" dirty="0"/>
              <a:t> I can see communication between two addresses (192.168.32.112 and 28.236.252.24) that means that attack was only from 1 host. </a:t>
            </a:r>
          </a:p>
          <a:p>
            <a:r>
              <a:rPr lang="en-GB" sz="1600" dirty="0"/>
              <a:t>The attack host (192.168.32.112) tries to overwhelm target host (28.236.252.24) with sending many SYN Packets</a:t>
            </a:r>
            <a:r>
              <a:rPr lang="ru-RU" sz="1600" dirty="0"/>
              <a:t> </a:t>
            </a:r>
            <a:r>
              <a:rPr lang="en-GB" sz="1600" dirty="0"/>
              <a:t>to the Port 80 in a small amount of time</a:t>
            </a:r>
          </a:p>
          <a:p>
            <a:r>
              <a:rPr lang="en-GB" sz="1600" dirty="0"/>
              <a:t>Attack type: DoS (SYN request flood)</a:t>
            </a:r>
          </a:p>
          <a:p>
            <a:r>
              <a:rPr lang="en-GB" sz="1600" dirty="0"/>
              <a:t>Attacker IP address: 192.168.32.112</a:t>
            </a:r>
          </a:p>
          <a:p>
            <a:endParaRPr lang="en-GB" sz="1600" dirty="0"/>
          </a:p>
          <a:p>
            <a:r>
              <a:rPr lang="en-GB" sz="1600" dirty="0"/>
              <a:t>The reason why this attack was possible can be: An open network service without was not secured and attacker was able to find the </a:t>
            </a:r>
            <a:r>
              <a:rPr lang="en-US" sz="1600" dirty="0"/>
              <a:t>vulnerability,</a:t>
            </a:r>
          </a:p>
          <a:p>
            <a:r>
              <a:rPr lang="en-US" sz="1600" dirty="0"/>
              <a:t>the router or firewall didn’t have rate limiting set up which helps the attacker to spam with SYN packets</a:t>
            </a:r>
          </a:p>
          <a:p>
            <a:r>
              <a:rPr lang="en-US" sz="1600" dirty="0"/>
              <a:t> the attacker has access to network of the target or target’s machine is infected with malware, backdoor </a:t>
            </a:r>
            <a:r>
              <a:rPr lang="en-GB" sz="1600" dirty="0"/>
              <a:t>for example</a:t>
            </a:r>
            <a:r>
              <a:rPr lang="en-US" sz="1600" dirty="0"/>
              <a:t>.</a:t>
            </a:r>
          </a:p>
          <a:p>
            <a:endParaRPr lang="en-US" sz="1600" dirty="0"/>
          </a:p>
          <a:p>
            <a:r>
              <a:rPr lang="en-US" sz="1600" dirty="0"/>
              <a:t>For countermeasure, I would turn on the SYN-cookies which would make the server not to maintain the half-open connection</a:t>
            </a:r>
          </a:p>
          <a:p>
            <a:r>
              <a:rPr lang="en-US" sz="1600" dirty="0"/>
              <a:t>Update the system or hardware if outdated</a:t>
            </a:r>
          </a:p>
          <a:p>
            <a:r>
              <a:rPr lang="en-US" sz="1600" dirty="0"/>
              <a:t>Install IDS/IPS </a:t>
            </a:r>
            <a:r>
              <a:rPr lang="en-US" sz="1600" dirty="0" err="1"/>
              <a:t>wich</a:t>
            </a:r>
            <a:r>
              <a:rPr lang="en-US" sz="1600" dirty="0"/>
              <a:t> will identify the anomalies like large amount of SYN packets and will block these connections.</a:t>
            </a:r>
          </a:p>
          <a:p>
            <a:endParaRPr lang="en-US" sz="1600" dirty="0"/>
          </a:p>
          <a:p>
            <a:endParaRPr lang="en-US" sz="1100" dirty="0"/>
          </a:p>
          <a:p>
            <a:endParaRPr lang="en-US" sz="1100" dirty="0"/>
          </a:p>
        </p:txBody>
      </p:sp>
      <p:pic>
        <p:nvPicPr>
          <p:cNvPr id="9" name="Рисунок 8" descr="Изображение выглядит как текст, снимок экрана, линия, Параллельный">
            <a:extLst>
              <a:ext uri="{FF2B5EF4-FFF2-40B4-BE49-F238E27FC236}">
                <a16:creationId xmlns:a16="http://schemas.microsoft.com/office/drawing/2014/main" id="{0E05D7EA-707B-8DC8-C225-C5E0E155D24A}"/>
              </a:ext>
            </a:extLst>
          </p:cNvPr>
          <p:cNvPicPr>
            <a:picLocks noChangeAspect="1"/>
          </p:cNvPicPr>
          <p:nvPr/>
        </p:nvPicPr>
        <p:blipFill>
          <a:blip r:embed="rId2"/>
          <a:stretch>
            <a:fillRect/>
          </a:stretch>
        </p:blipFill>
        <p:spPr>
          <a:xfrm>
            <a:off x="5385816" y="1188802"/>
            <a:ext cx="6716732" cy="4113998"/>
          </a:xfrm>
          <a:prstGeom prst="rect">
            <a:avLst/>
          </a:prstGeom>
        </p:spPr>
      </p:pic>
      <p:sp>
        <p:nvSpPr>
          <p:cNvPr id="10" name="Объект 2">
            <a:extLst>
              <a:ext uri="{FF2B5EF4-FFF2-40B4-BE49-F238E27FC236}">
                <a16:creationId xmlns:a16="http://schemas.microsoft.com/office/drawing/2014/main" id="{89B3637B-9958-05F3-331D-A88EA64CE112}"/>
              </a:ext>
            </a:extLst>
          </p:cNvPr>
          <p:cNvSpPr txBox="1">
            <a:spLocks/>
          </p:cNvSpPr>
          <p:nvPr/>
        </p:nvSpPr>
        <p:spPr>
          <a:xfrm>
            <a:off x="7318471" y="5305305"/>
            <a:ext cx="3697534" cy="1643118"/>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sz="1100" dirty="0">
              <a:ea typeface="Calibri" panose="020F0502020204030204"/>
              <a:cs typeface="Calibri" panose="020F0502020204030204"/>
            </a:endParaRPr>
          </a:p>
          <a:p>
            <a:pPr marL="0" indent="0">
              <a:buNone/>
            </a:pPr>
            <a:r>
              <a:rPr lang="en-US" sz="1100" dirty="0">
                <a:solidFill>
                  <a:srgbClr val="FF0000"/>
                </a:solidFill>
              </a:rPr>
              <a:t>Red circle – the IP address of attacker</a:t>
            </a:r>
            <a:endParaRPr lang="en-US" sz="1100" dirty="0">
              <a:solidFill>
                <a:srgbClr val="FF0000"/>
              </a:solidFill>
              <a:ea typeface="Calibri" panose="020F0502020204030204"/>
              <a:cs typeface="Calibri" panose="020F0502020204030204"/>
            </a:endParaRPr>
          </a:p>
          <a:p>
            <a:pPr marL="0" indent="0">
              <a:buNone/>
            </a:pPr>
            <a:r>
              <a:rPr lang="en-US" sz="1100" dirty="0">
                <a:solidFill>
                  <a:srgbClr val="00B0F0"/>
                </a:solidFill>
              </a:rPr>
              <a:t>Blue circle – the IP address of the target</a:t>
            </a:r>
            <a:endParaRPr lang="en-US" sz="1100" dirty="0">
              <a:solidFill>
                <a:srgbClr val="00B0F0"/>
              </a:solidFill>
              <a:ea typeface="Calibri" panose="020F0502020204030204"/>
              <a:cs typeface="Calibri" panose="020F0502020204030204"/>
            </a:endParaRPr>
          </a:p>
          <a:p>
            <a:pPr marL="0" indent="0">
              <a:buNone/>
            </a:pPr>
            <a:r>
              <a:rPr lang="en-US" sz="1100" dirty="0">
                <a:solidFill>
                  <a:schemeClr val="accent2"/>
                </a:solidFill>
              </a:rPr>
              <a:t>Orange circle – show the port number is being attacked</a:t>
            </a:r>
            <a:endParaRPr lang="en-US" sz="1100" dirty="0">
              <a:solidFill>
                <a:schemeClr val="accent2"/>
              </a:solidFill>
              <a:ea typeface="Calibri"/>
              <a:cs typeface="Calibri"/>
            </a:endParaRPr>
          </a:p>
          <a:p>
            <a:pPr marL="0" indent="0">
              <a:buNone/>
            </a:pPr>
            <a:r>
              <a:rPr lang="en-US" sz="1100" dirty="0">
                <a:solidFill>
                  <a:srgbClr val="FFFF00"/>
                </a:solidFill>
                <a:highlight>
                  <a:srgbClr val="808080"/>
                </a:highlight>
              </a:rPr>
              <a:t>Yellow circle – type of packet was sent to the target</a:t>
            </a:r>
            <a:endParaRPr lang="en-US" sz="1100" dirty="0">
              <a:solidFill>
                <a:srgbClr val="FFFF00"/>
              </a:solidFill>
              <a:highlight>
                <a:srgbClr val="808080"/>
              </a:highlight>
              <a:ea typeface="Calibri" panose="020F0502020204030204"/>
              <a:cs typeface="Calibri" panose="020F0502020204030204"/>
            </a:endParaRPr>
          </a:p>
        </p:txBody>
      </p:sp>
      <p:sp>
        <p:nvSpPr>
          <p:cNvPr id="4" name="TextBox 3">
            <a:extLst>
              <a:ext uri="{FF2B5EF4-FFF2-40B4-BE49-F238E27FC236}">
                <a16:creationId xmlns:a16="http://schemas.microsoft.com/office/drawing/2014/main" id="{81D552B6-1004-520F-E155-0398B92CA165}"/>
              </a:ext>
            </a:extLst>
          </p:cNvPr>
          <p:cNvSpPr txBox="1"/>
          <p:nvPr/>
        </p:nvSpPr>
        <p:spPr>
          <a:xfrm>
            <a:off x="5296829" y="919976"/>
            <a:ext cx="7294756" cy="53860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100" b="0" i="0" u="none" strike="noStrike" baseline="0">
                <a:solidFill>
                  <a:srgbClr val="000000"/>
                </a:solidFill>
                <a:latin typeface="Calibri"/>
                <a:ea typeface="Calibri"/>
                <a:cs typeface="Calibri"/>
              </a:rPr>
              <a:t>The highlighted fields show the attacker IP, target IP, destination port, and TCP flags indicating repeated SYN packets.”</a:t>
            </a:r>
            <a:endParaRPr lang="ru-RU"/>
          </a:p>
          <a:p>
            <a:pPr algn="ctr"/>
            <a:endParaRPr lang="ru-RU"/>
          </a:p>
        </p:txBody>
      </p:sp>
    </p:spTree>
    <p:extLst>
      <p:ext uri="{BB962C8B-B14F-4D97-AF65-F5344CB8AC3E}">
        <p14:creationId xmlns:p14="http://schemas.microsoft.com/office/powerpoint/2010/main" val="6654091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1CD81A2A-6ED4-4EF4-A14C-912D31E148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Заголовок 1">
            <a:extLst>
              <a:ext uri="{FF2B5EF4-FFF2-40B4-BE49-F238E27FC236}">
                <a16:creationId xmlns:a16="http://schemas.microsoft.com/office/drawing/2014/main" id="{067A7779-3664-721E-131A-60F8249E0A9E}"/>
              </a:ext>
            </a:extLst>
          </p:cNvPr>
          <p:cNvSpPr>
            <a:spLocks noGrp="1"/>
          </p:cNvSpPr>
          <p:nvPr>
            <p:ph type="title"/>
          </p:nvPr>
        </p:nvSpPr>
        <p:spPr>
          <a:xfrm>
            <a:off x="838200" y="365125"/>
            <a:ext cx="5393361" cy="1325563"/>
          </a:xfrm>
        </p:spPr>
        <p:txBody>
          <a:bodyPr vert="horz" lIns="91440" tIns="45720" rIns="91440" bIns="45720" rtlCol="0">
            <a:normAutofit/>
          </a:bodyPr>
          <a:lstStyle/>
          <a:p>
            <a:r>
              <a:rPr lang="en-US" kern="1200">
                <a:latin typeface="+mj-lt"/>
                <a:ea typeface="+mj-ea"/>
                <a:cs typeface="+mj-cs"/>
              </a:rPr>
              <a:t>Thank you </a:t>
            </a:r>
          </a:p>
        </p:txBody>
      </p:sp>
      <p:sp>
        <p:nvSpPr>
          <p:cNvPr id="19" name="Freeform: Shape 18">
            <a:extLst>
              <a:ext uri="{FF2B5EF4-FFF2-40B4-BE49-F238E27FC236}">
                <a16:creationId xmlns:a16="http://schemas.microsoft.com/office/drawing/2014/main" id="{1661932C-CA15-4E17-B115-FAE7CBEE47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198657" y="1"/>
            <a:ext cx="1155142" cy="625027"/>
          </a:xfrm>
          <a:custGeom>
            <a:avLst/>
            <a:gdLst>
              <a:gd name="connsiteX0" fmla="*/ 4784 w 1155142"/>
              <a:gd name="connsiteY0" fmla="*/ 0 h 625027"/>
              <a:gd name="connsiteX1" fmla="*/ 1150358 w 1155142"/>
              <a:gd name="connsiteY1" fmla="*/ 0 h 625027"/>
              <a:gd name="connsiteX2" fmla="*/ 1155142 w 1155142"/>
              <a:gd name="connsiteY2" fmla="*/ 47456 h 625027"/>
              <a:gd name="connsiteX3" fmla="*/ 577571 w 1155142"/>
              <a:gd name="connsiteY3" fmla="*/ 625027 h 625027"/>
              <a:gd name="connsiteX4" fmla="*/ 0 w 1155142"/>
              <a:gd name="connsiteY4" fmla="*/ 47456 h 6250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625027">
                <a:moveTo>
                  <a:pt x="4784" y="0"/>
                </a:moveTo>
                <a:lnTo>
                  <a:pt x="1150358" y="0"/>
                </a:lnTo>
                <a:lnTo>
                  <a:pt x="1155142" y="47456"/>
                </a:lnTo>
                <a:cubicBezTo>
                  <a:pt x="1155142" y="366440"/>
                  <a:pt x="896555" y="625027"/>
                  <a:pt x="577571" y="625027"/>
                </a:cubicBezTo>
                <a:cubicBezTo>
                  <a:pt x="258587" y="625027"/>
                  <a:pt x="0" y="366440"/>
                  <a:pt x="0" y="47456"/>
                </a:cubicBezTo>
                <a:close/>
              </a:path>
            </a:pathLst>
          </a:custGeom>
          <a:solidFill>
            <a:schemeClr val="accent5">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Объект 2">
            <a:extLst>
              <a:ext uri="{FF2B5EF4-FFF2-40B4-BE49-F238E27FC236}">
                <a16:creationId xmlns:a16="http://schemas.microsoft.com/office/drawing/2014/main" id="{5C08AE76-96E1-DA8C-3BDA-225E3366C08B}"/>
              </a:ext>
            </a:extLst>
          </p:cNvPr>
          <p:cNvSpPr>
            <a:spLocks noGrp="1"/>
          </p:cNvSpPr>
          <p:nvPr>
            <p:ph idx="1"/>
          </p:nvPr>
        </p:nvSpPr>
        <p:spPr>
          <a:xfrm>
            <a:off x="838200" y="1825625"/>
            <a:ext cx="6278332" cy="4351338"/>
          </a:xfrm>
        </p:spPr>
        <p:txBody>
          <a:bodyPr>
            <a:normAutofit/>
          </a:bodyPr>
          <a:lstStyle/>
          <a:p>
            <a:pPr marL="0" indent="0">
              <a:buNone/>
            </a:pPr>
            <a:r>
              <a:rPr lang="en-GB" dirty="0"/>
              <a:t>References </a:t>
            </a:r>
            <a:endParaRPr lang="en-US" dirty="0"/>
          </a:p>
          <a:p>
            <a:pPr marL="0" indent="0">
              <a:buNone/>
            </a:pPr>
            <a:r>
              <a:rPr lang="en-US" b="1" dirty="0"/>
              <a:t>Computer Security: Principles and Practice, Global Edition </a:t>
            </a:r>
            <a:r>
              <a:rPr lang="en-US" sz="1800" dirty="0"/>
              <a:t>by</a:t>
            </a:r>
            <a:r>
              <a:rPr lang="en-US" sz="1600" dirty="0"/>
              <a:t> </a:t>
            </a:r>
            <a:r>
              <a:rPr lang="en-US" sz="1800" dirty="0"/>
              <a:t>William Stallings and Lawrie Brown</a:t>
            </a:r>
          </a:p>
          <a:p>
            <a:pPr marL="0" indent="0">
              <a:buNone/>
            </a:pPr>
            <a:endParaRPr lang="en-US" b="1" dirty="0"/>
          </a:p>
        </p:txBody>
      </p:sp>
      <p:sp>
        <p:nvSpPr>
          <p:cNvPr id="21" name="Oval 20">
            <a:extLst>
              <a:ext uri="{FF2B5EF4-FFF2-40B4-BE49-F238E27FC236}">
                <a16:creationId xmlns:a16="http://schemas.microsoft.com/office/drawing/2014/main" id="{8590ADD5-9383-4D3D-9047-3DA2593CCB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08185" y="3423959"/>
            <a:ext cx="540822" cy="540822"/>
          </a:xfrm>
          <a:prstGeom prst="ellipse">
            <a:avLst/>
          </a:prstGeom>
          <a:noFill/>
          <a:ln w="1270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descr="Smiling Face with No Fill">
            <a:extLst>
              <a:ext uri="{FF2B5EF4-FFF2-40B4-BE49-F238E27FC236}">
                <a16:creationId xmlns:a16="http://schemas.microsoft.com/office/drawing/2014/main" id="{D3E6054A-195B-C1B8-5A51-9F0409400C9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7887184" y="1216485"/>
            <a:ext cx="3781051" cy="3781051"/>
          </a:xfrm>
          <a:custGeom>
            <a:avLst/>
            <a:gdLst/>
            <a:ahLst/>
            <a:cxnLst/>
            <a:rect l="l" t="t" r="r" b="b"/>
            <a:pathLst>
              <a:path w="4114800" h="5712488">
                <a:moveTo>
                  <a:pt x="133155" y="0"/>
                </a:moveTo>
                <a:lnTo>
                  <a:pt x="3981645" y="0"/>
                </a:lnTo>
                <a:cubicBezTo>
                  <a:pt x="4055184" y="0"/>
                  <a:pt x="4114800" y="59616"/>
                  <a:pt x="4114800" y="133155"/>
                </a:cubicBezTo>
                <a:lnTo>
                  <a:pt x="4114800" y="5579333"/>
                </a:lnTo>
                <a:cubicBezTo>
                  <a:pt x="4114800" y="5652872"/>
                  <a:pt x="4055184" y="5712488"/>
                  <a:pt x="3981645" y="5712488"/>
                </a:cubicBezTo>
                <a:lnTo>
                  <a:pt x="133155" y="5712488"/>
                </a:lnTo>
                <a:cubicBezTo>
                  <a:pt x="59616" y="5712488"/>
                  <a:pt x="0" y="5652872"/>
                  <a:pt x="0" y="5579333"/>
                </a:cubicBezTo>
                <a:lnTo>
                  <a:pt x="0" y="133155"/>
                </a:lnTo>
                <a:cubicBezTo>
                  <a:pt x="0" y="59616"/>
                  <a:pt x="59616" y="0"/>
                  <a:pt x="133155" y="0"/>
                </a:cubicBezTo>
                <a:close/>
              </a:path>
            </a:pathLst>
          </a:custGeom>
        </p:spPr>
      </p:pic>
      <p:sp>
        <p:nvSpPr>
          <p:cNvPr id="23" name="Freeform: Shape 22">
            <a:extLst>
              <a:ext uri="{FF2B5EF4-FFF2-40B4-BE49-F238E27FC236}">
                <a16:creationId xmlns:a16="http://schemas.microsoft.com/office/drawing/2014/main" id="{DABE3E45-88CF-45D8-8D40-C773324D93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49602" y="1"/>
            <a:ext cx="2066948" cy="1621879"/>
          </a:xfrm>
          <a:custGeom>
            <a:avLst/>
            <a:gdLst>
              <a:gd name="connsiteX0" fmla="*/ 0 w 2066948"/>
              <a:gd name="connsiteY0" fmla="*/ 0 h 1621879"/>
              <a:gd name="connsiteX1" fmla="*/ 123825 w 2066948"/>
              <a:gd name="connsiteY1" fmla="*/ 0 h 1621879"/>
              <a:gd name="connsiteX2" fmla="*/ 123825 w 2066948"/>
              <a:gd name="connsiteY2" fmla="*/ 1452620 h 1621879"/>
              <a:gd name="connsiteX3" fmla="*/ 1881378 w 2066948"/>
              <a:gd name="connsiteY3" fmla="*/ 436017 h 1621879"/>
              <a:gd name="connsiteX4" fmla="*/ 1127572 w 2066948"/>
              <a:gd name="connsiteY4" fmla="*/ 0 h 1621879"/>
              <a:gd name="connsiteX5" fmla="*/ 1374887 w 2066948"/>
              <a:gd name="connsiteY5" fmla="*/ 0 h 1621879"/>
              <a:gd name="connsiteX6" fmla="*/ 2035969 w 2066948"/>
              <a:gd name="connsiteY6" fmla="*/ 382391 h 1621879"/>
              <a:gd name="connsiteX7" fmla="*/ 2058648 w 2066948"/>
              <a:gd name="connsiteY7" fmla="*/ 466963 h 1621879"/>
              <a:gd name="connsiteX8" fmla="*/ 2035969 w 2066948"/>
              <a:gd name="connsiteY8" fmla="*/ 489642 h 1621879"/>
              <a:gd name="connsiteX9" fmla="*/ 92869 w 2066948"/>
              <a:gd name="connsiteY9" fmla="*/ 1613592 h 1621879"/>
              <a:gd name="connsiteX10" fmla="*/ 61913 w 2066948"/>
              <a:gd name="connsiteY10" fmla="*/ 1621879 h 1621879"/>
              <a:gd name="connsiteX11" fmla="*/ 0 w 2066948"/>
              <a:gd name="connsiteY11" fmla="*/ 1559967 h 1621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66948" h="1621879">
                <a:moveTo>
                  <a:pt x="0" y="0"/>
                </a:moveTo>
                <a:lnTo>
                  <a:pt x="123825" y="0"/>
                </a:lnTo>
                <a:lnTo>
                  <a:pt x="123825" y="1452620"/>
                </a:lnTo>
                <a:lnTo>
                  <a:pt x="1881378" y="436017"/>
                </a:lnTo>
                <a:lnTo>
                  <a:pt x="1127572" y="0"/>
                </a:lnTo>
                <a:lnTo>
                  <a:pt x="1374887" y="0"/>
                </a:lnTo>
                <a:lnTo>
                  <a:pt x="2035969" y="382391"/>
                </a:lnTo>
                <a:cubicBezTo>
                  <a:pt x="2065582" y="399479"/>
                  <a:pt x="2075745" y="437340"/>
                  <a:pt x="2058648" y="466963"/>
                </a:cubicBezTo>
                <a:cubicBezTo>
                  <a:pt x="2053219" y="476384"/>
                  <a:pt x="2045389" y="484204"/>
                  <a:pt x="2035969" y="489642"/>
                </a:cubicBezTo>
                <a:lnTo>
                  <a:pt x="92869" y="1613592"/>
                </a:lnTo>
                <a:cubicBezTo>
                  <a:pt x="83458" y="1619031"/>
                  <a:pt x="72780" y="1621889"/>
                  <a:pt x="61913" y="1621879"/>
                </a:cubicBezTo>
                <a:cubicBezTo>
                  <a:pt x="27719" y="1621879"/>
                  <a:pt x="0" y="1594161"/>
                  <a:pt x="0" y="1559967"/>
                </a:cubicBezTo>
                <a:close/>
              </a:path>
            </a:pathLst>
          </a:custGeom>
          <a:solidFill>
            <a:schemeClr val="accent6"/>
          </a:solidFill>
          <a:ln w="9525" cap="flat">
            <a:noFill/>
            <a:prstDash val="solid"/>
            <a:miter/>
          </a:ln>
        </p:spPr>
        <p:txBody>
          <a:bodyPr rtlCol="0" anchor="ctr"/>
          <a:lstStyle/>
          <a:p>
            <a:endParaRPr lang="en-US"/>
          </a:p>
        </p:txBody>
      </p:sp>
      <p:cxnSp>
        <p:nvCxnSpPr>
          <p:cNvPr id="25" name="Straight Connector 24">
            <a:extLst>
              <a:ext uri="{FF2B5EF4-FFF2-40B4-BE49-F238E27FC236}">
                <a16:creationId xmlns:a16="http://schemas.microsoft.com/office/drawing/2014/main" id="{49CD1692-827B-4C8D-B4A1-134FD04CF45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138745" y="1027906"/>
            <a:ext cx="0" cy="1597708"/>
          </a:xfrm>
          <a:prstGeom prst="line">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cxnSp>
      <p:sp>
        <p:nvSpPr>
          <p:cNvPr id="27" name="Freeform: Shape 26">
            <a:extLst>
              <a:ext uri="{FF2B5EF4-FFF2-40B4-BE49-F238E27FC236}">
                <a16:creationId xmlns:a16="http://schemas.microsoft.com/office/drawing/2014/main" id="{B91ECDA9-56DC-4270-8F33-01C5637B8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463438">
            <a:off x="7456580" y="5166682"/>
            <a:ext cx="1835725" cy="2024785"/>
          </a:xfrm>
          <a:custGeom>
            <a:avLst/>
            <a:gdLst>
              <a:gd name="connsiteX0" fmla="*/ 1801138 w 1835725"/>
              <a:gd name="connsiteY0" fmla="*/ 1622662 h 2024785"/>
              <a:gd name="connsiteX1" fmla="*/ 1835717 w 1835725"/>
              <a:gd name="connsiteY1" fmla="*/ 1680254 h 2024785"/>
              <a:gd name="connsiteX2" fmla="*/ 1812568 w 1835725"/>
              <a:gd name="connsiteY2" fmla="*/ 1877193 h 2024785"/>
              <a:gd name="connsiteX3" fmla="*/ 1776210 w 1835725"/>
              <a:gd name="connsiteY3" fmla="*/ 2024785 h 2024785"/>
              <a:gd name="connsiteX4" fmla="*/ 1655772 w 1835725"/>
              <a:gd name="connsiteY4" fmla="*/ 1983449 h 2024785"/>
              <a:gd name="connsiteX5" fmla="*/ 1687591 w 1835725"/>
              <a:gd name="connsiteY5" fmla="*/ 1854495 h 2024785"/>
              <a:gd name="connsiteX6" fmla="*/ 1708939 w 1835725"/>
              <a:gd name="connsiteY6" fmla="*/ 1673301 h 2024785"/>
              <a:gd name="connsiteX7" fmla="*/ 1778129 w 1835725"/>
              <a:gd name="connsiteY7" fmla="*/ 1615979 h 2024785"/>
              <a:gd name="connsiteX8" fmla="*/ 1801138 w 1835725"/>
              <a:gd name="connsiteY8" fmla="*/ 1622662 h 2024785"/>
              <a:gd name="connsiteX9" fmla="*/ 1585229 w 1835725"/>
              <a:gd name="connsiteY9" fmla="*/ 764759 h 2024785"/>
              <a:gd name="connsiteX10" fmla="*/ 1623024 w 1835725"/>
              <a:gd name="connsiteY10" fmla="*/ 792810 h 2024785"/>
              <a:gd name="connsiteX11" fmla="*/ 1777614 w 1835725"/>
              <a:gd name="connsiteY11" fmla="*/ 1157141 h 2024785"/>
              <a:gd name="connsiteX12" fmla="*/ 1733799 w 1835725"/>
              <a:gd name="connsiteY12" fmla="*/ 1235532 h 2024785"/>
              <a:gd name="connsiteX13" fmla="*/ 1716464 w 1835725"/>
              <a:gd name="connsiteY13" fmla="*/ 1237722 h 2024785"/>
              <a:gd name="connsiteX14" fmla="*/ 1716464 w 1835725"/>
              <a:gd name="connsiteY14" fmla="*/ 1237913 h 2024785"/>
              <a:gd name="connsiteX15" fmla="*/ 1655409 w 1835725"/>
              <a:gd name="connsiteY15" fmla="*/ 1191717 h 2024785"/>
              <a:gd name="connsiteX16" fmla="*/ 1513200 w 1835725"/>
              <a:gd name="connsiteY16" fmla="*/ 856627 h 2024785"/>
              <a:gd name="connsiteX17" fmla="*/ 1538499 w 1835725"/>
              <a:gd name="connsiteY17" fmla="*/ 770415 h 2024785"/>
              <a:gd name="connsiteX18" fmla="*/ 1585229 w 1835725"/>
              <a:gd name="connsiteY18" fmla="*/ 764759 h 2024785"/>
              <a:gd name="connsiteX19" fmla="*/ 477919 w 1835725"/>
              <a:gd name="connsiteY19" fmla="*/ 21437 h 2024785"/>
              <a:gd name="connsiteX20" fmla="*/ 509236 w 1835725"/>
              <a:gd name="connsiteY20" fmla="*/ 84182 h 2024785"/>
              <a:gd name="connsiteX21" fmla="*/ 445829 w 1835725"/>
              <a:gd name="connsiteY21" fmla="*/ 139871 h 2024785"/>
              <a:gd name="connsiteX22" fmla="*/ 437447 w 1835725"/>
              <a:gd name="connsiteY22" fmla="*/ 139395 h 2024785"/>
              <a:gd name="connsiteX23" fmla="*/ 73211 w 1835725"/>
              <a:gd name="connsiteY23" fmla="*/ 137204 h 2024785"/>
              <a:gd name="connsiteX24" fmla="*/ 749 w 1835725"/>
              <a:gd name="connsiteY24" fmla="*/ 84082 h 2024785"/>
              <a:gd name="connsiteX25" fmla="*/ 53871 w 1835725"/>
              <a:gd name="connsiteY25" fmla="*/ 11621 h 2024785"/>
              <a:gd name="connsiteX26" fmla="*/ 58352 w 1835725"/>
              <a:gd name="connsiteY26" fmla="*/ 11093 h 2024785"/>
              <a:gd name="connsiteX27" fmla="*/ 454020 w 1835725"/>
              <a:gd name="connsiteY27" fmla="*/ 13474 h 2024785"/>
              <a:gd name="connsiteX28" fmla="*/ 477919 w 1835725"/>
              <a:gd name="connsiteY28" fmla="*/ 21437 h 2024785"/>
              <a:gd name="connsiteX29" fmla="*/ 957797 w 1835725"/>
              <a:gd name="connsiteY29" fmla="*/ 167970 h 2024785"/>
              <a:gd name="connsiteX30" fmla="*/ 1286982 w 1835725"/>
              <a:gd name="connsiteY30" fmla="*/ 387616 h 2024785"/>
              <a:gd name="connsiteX31" fmla="*/ 1293725 w 1835725"/>
              <a:gd name="connsiteY31" fmla="*/ 477075 h 2024785"/>
              <a:gd name="connsiteX32" fmla="*/ 1245453 w 1835725"/>
              <a:gd name="connsiteY32" fmla="*/ 499154 h 2024785"/>
              <a:gd name="connsiteX33" fmla="*/ 1245167 w 1835725"/>
              <a:gd name="connsiteY33" fmla="*/ 499154 h 2024785"/>
              <a:gd name="connsiteX34" fmla="*/ 1203638 w 1835725"/>
              <a:gd name="connsiteY34" fmla="*/ 484104 h 2024785"/>
              <a:gd name="connsiteX35" fmla="*/ 900647 w 1835725"/>
              <a:gd name="connsiteY35" fmla="*/ 281508 h 2024785"/>
              <a:gd name="connsiteX36" fmla="*/ 872454 w 1835725"/>
              <a:gd name="connsiteY36" fmla="*/ 196164 h 2024785"/>
              <a:gd name="connsiteX37" fmla="*/ 957797 w 1835725"/>
              <a:gd name="connsiteY37" fmla="*/ 167970 h 2024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835725" h="2024785">
                <a:moveTo>
                  <a:pt x="1801138" y="1622662"/>
                </a:moveTo>
                <a:cubicBezTo>
                  <a:pt x="1822105" y="1633400"/>
                  <a:pt x="1836117" y="1655372"/>
                  <a:pt x="1835717" y="1680254"/>
                </a:cubicBezTo>
                <a:cubicBezTo>
                  <a:pt x="1832093" y="1746382"/>
                  <a:pt x="1824354" y="1812154"/>
                  <a:pt x="1812568" y="1877193"/>
                </a:cubicBezTo>
                <a:lnTo>
                  <a:pt x="1776210" y="2024785"/>
                </a:lnTo>
                <a:lnTo>
                  <a:pt x="1655772" y="1983449"/>
                </a:lnTo>
                <a:lnTo>
                  <a:pt x="1687591" y="1854495"/>
                </a:lnTo>
                <a:cubicBezTo>
                  <a:pt x="1698455" y="1794657"/>
                  <a:pt x="1705590" y="1734142"/>
                  <a:pt x="1708939" y="1673301"/>
                </a:cubicBezTo>
                <a:cubicBezTo>
                  <a:pt x="1712216" y="1638363"/>
                  <a:pt x="1743190" y="1612703"/>
                  <a:pt x="1778129" y="1615979"/>
                </a:cubicBezTo>
                <a:cubicBezTo>
                  <a:pt x="1786387" y="1616753"/>
                  <a:pt x="1794149" y="1619084"/>
                  <a:pt x="1801138" y="1622662"/>
                </a:cubicBezTo>
                <a:close/>
                <a:moveTo>
                  <a:pt x="1585229" y="764759"/>
                </a:moveTo>
                <a:cubicBezTo>
                  <a:pt x="1600438" y="768789"/>
                  <a:pt x="1614156" y="778436"/>
                  <a:pt x="1623024" y="792810"/>
                </a:cubicBezTo>
                <a:cubicBezTo>
                  <a:pt x="1689575" y="907319"/>
                  <a:pt x="1741505" y="1029715"/>
                  <a:pt x="1777614" y="1157141"/>
                </a:cubicBezTo>
                <a:cubicBezTo>
                  <a:pt x="1787149" y="1190888"/>
                  <a:pt x="1767537" y="1225969"/>
                  <a:pt x="1733799" y="1235532"/>
                </a:cubicBezTo>
                <a:cubicBezTo>
                  <a:pt x="1728151" y="1237046"/>
                  <a:pt x="1722312" y="1237780"/>
                  <a:pt x="1716464" y="1237722"/>
                </a:cubicBezTo>
                <a:lnTo>
                  <a:pt x="1716464" y="1237913"/>
                </a:lnTo>
                <a:cubicBezTo>
                  <a:pt x="1688070" y="1237913"/>
                  <a:pt x="1663124" y="1219044"/>
                  <a:pt x="1655409" y="1191717"/>
                </a:cubicBezTo>
                <a:cubicBezTo>
                  <a:pt x="1622214" y="1074512"/>
                  <a:pt x="1574437" y="961936"/>
                  <a:pt x="1513200" y="856627"/>
                </a:cubicBezTo>
                <a:cubicBezTo>
                  <a:pt x="1496379" y="825834"/>
                  <a:pt x="1507704" y="787236"/>
                  <a:pt x="1538499" y="770415"/>
                </a:cubicBezTo>
                <a:cubicBezTo>
                  <a:pt x="1553325" y="762319"/>
                  <a:pt x="1570022" y="760730"/>
                  <a:pt x="1585229" y="764759"/>
                </a:cubicBezTo>
                <a:close/>
                <a:moveTo>
                  <a:pt x="477919" y="21437"/>
                </a:moveTo>
                <a:cubicBezTo>
                  <a:pt x="499341" y="33775"/>
                  <a:pt x="512445" y="58102"/>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89834" y="-4456"/>
                  <a:pt x="322735" y="-3656"/>
                  <a:pt x="454020" y="13474"/>
                </a:cubicBezTo>
                <a:cubicBezTo>
                  <a:pt x="462713" y="14543"/>
                  <a:pt x="470778" y="17324"/>
                  <a:pt x="477919" y="21437"/>
                </a:cubicBezTo>
                <a:close/>
                <a:moveTo>
                  <a:pt x="957797" y="167970"/>
                </a:move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8235" y="164811"/>
                  <a:pt x="926445" y="152188"/>
                  <a:pt x="957797" y="167970"/>
                </a:cubicBezTo>
                <a:close/>
              </a:path>
            </a:pathLst>
          </a:custGeom>
          <a:solidFill>
            <a:schemeClr val="accent4"/>
          </a:solid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75F47824-961D-465D-84F9-EAE11BC617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09527" y="6033795"/>
            <a:ext cx="1991064" cy="824205"/>
          </a:xfrm>
          <a:custGeom>
            <a:avLst/>
            <a:gdLst>
              <a:gd name="connsiteX0" fmla="*/ 995532 w 1991064"/>
              <a:gd name="connsiteY0" fmla="*/ 0 h 824205"/>
              <a:gd name="connsiteX1" fmla="*/ 1984823 w 1991064"/>
              <a:gd name="connsiteY1" fmla="*/ 784423 h 824205"/>
              <a:gd name="connsiteX2" fmla="*/ 1991064 w 1991064"/>
              <a:gd name="connsiteY2" fmla="*/ 824205 h 824205"/>
              <a:gd name="connsiteX3" fmla="*/ 0 w 1991064"/>
              <a:gd name="connsiteY3" fmla="*/ 824205 h 824205"/>
              <a:gd name="connsiteX4" fmla="*/ 6241 w 1991064"/>
              <a:gd name="connsiteY4" fmla="*/ 784423 h 824205"/>
              <a:gd name="connsiteX5" fmla="*/ 995532 w 1991064"/>
              <a:gd name="connsiteY5" fmla="*/ 0 h 824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91064" h="824205">
                <a:moveTo>
                  <a:pt x="995532" y="0"/>
                </a:moveTo>
                <a:cubicBezTo>
                  <a:pt x="1483521" y="0"/>
                  <a:pt x="1890663" y="336754"/>
                  <a:pt x="1984823" y="784423"/>
                </a:cubicBezTo>
                <a:lnTo>
                  <a:pt x="1991064" y="824205"/>
                </a:lnTo>
                <a:lnTo>
                  <a:pt x="0" y="824205"/>
                </a:lnTo>
                <a:lnTo>
                  <a:pt x="6241" y="784423"/>
                </a:lnTo>
                <a:cubicBezTo>
                  <a:pt x="100402" y="336754"/>
                  <a:pt x="507544" y="0"/>
                  <a:pt x="995532"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1" name="Freeform: Shape 30">
            <a:extLst>
              <a:ext uri="{FF2B5EF4-FFF2-40B4-BE49-F238E27FC236}">
                <a16:creationId xmlns:a16="http://schemas.microsoft.com/office/drawing/2014/main" id="{FEC9DA3E-C1D7-472D-B7C0-F71AE41FBA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51696" y="5519196"/>
            <a:ext cx="1340305" cy="1338805"/>
          </a:xfrm>
          <a:custGeom>
            <a:avLst/>
            <a:gdLst>
              <a:gd name="connsiteX0" fmla="*/ 61913 w 1340305"/>
              <a:gd name="connsiteY0" fmla="*/ 0 h 1338805"/>
              <a:gd name="connsiteX1" fmla="*/ 1340305 w 1340305"/>
              <a:gd name="connsiteY1" fmla="*/ 0 h 1338805"/>
              <a:gd name="connsiteX2" fmla="*/ 1340305 w 1340305"/>
              <a:gd name="connsiteY2" fmla="*/ 123825 h 1338805"/>
              <a:gd name="connsiteX3" fmla="*/ 123825 w 1340305"/>
              <a:gd name="connsiteY3" fmla="*/ 123825 h 1338805"/>
              <a:gd name="connsiteX4" fmla="*/ 123825 w 1340305"/>
              <a:gd name="connsiteY4" fmla="*/ 1338805 h 1338805"/>
              <a:gd name="connsiteX5" fmla="*/ 0 w 1340305"/>
              <a:gd name="connsiteY5" fmla="*/ 1338805 h 1338805"/>
              <a:gd name="connsiteX6" fmla="*/ 0 w 1340305"/>
              <a:gd name="connsiteY6" fmla="*/ 61913 h 1338805"/>
              <a:gd name="connsiteX7" fmla="*/ 61913 w 1340305"/>
              <a:gd name="connsiteY7" fmla="*/ 0 h 13388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40305" h="1338805">
                <a:moveTo>
                  <a:pt x="61913" y="0"/>
                </a:moveTo>
                <a:lnTo>
                  <a:pt x="1340305" y="0"/>
                </a:lnTo>
                <a:lnTo>
                  <a:pt x="1340305" y="123825"/>
                </a:lnTo>
                <a:lnTo>
                  <a:pt x="123825" y="123825"/>
                </a:lnTo>
                <a:lnTo>
                  <a:pt x="123825" y="1338805"/>
                </a:lnTo>
                <a:lnTo>
                  <a:pt x="0" y="1338805"/>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Tree>
    <p:extLst>
      <p:ext uri="{BB962C8B-B14F-4D97-AF65-F5344CB8AC3E}">
        <p14:creationId xmlns:p14="http://schemas.microsoft.com/office/powerpoint/2010/main" val="3157694996"/>
      </p:ext>
    </p:extLst>
  </p:cSld>
  <p:clrMapOvr>
    <a:masterClrMapping/>
  </p:clrMapOvr>
</p:sld>
</file>

<file path=ppt/theme/theme1.xml><?xml version="1.0" encoding="utf-8"?>
<a:theme xmlns:a="http://schemas.openxmlformats.org/drawingml/2006/main" name="Тема Office 2013–2022">
  <a:themeElements>
    <a:clrScheme name="Тема Office 2013–2022">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Тема Office 2013–2022">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Тема Office 2013–2022">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Стандартная">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2013 - 2022 Theme</Template>
  <TotalTime>5306</TotalTime>
  <Words>807</Words>
  <Application>Microsoft Macintosh PowerPoint</Application>
  <PresentationFormat>Широкоэкранный</PresentationFormat>
  <Paragraphs>45</Paragraphs>
  <Slides>7</Slides>
  <Notes>0</Notes>
  <HiddenSlides>0</HiddenSlides>
  <MMClips>0</MMClips>
  <ScaleCrop>false</ScaleCrop>
  <HeadingPairs>
    <vt:vector size="6" baseType="variant">
      <vt:variant>
        <vt:lpstr>Использованные шрифты</vt:lpstr>
      </vt:variant>
      <vt:variant>
        <vt:i4>4</vt:i4>
      </vt:variant>
      <vt:variant>
        <vt:lpstr>Тема</vt:lpstr>
      </vt:variant>
      <vt:variant>
        <vt:i4>1</vt:i4>
      </vt:variant>
      <vt:variant>
        <vt:lpstr>Заголовки слайдов</vt:lpstr>
      </vt:variant>
      <vt:variant>
        <vt:i4>7</vt:i4>
      </vt:variant>
    </vt:vector>
  </HeadingPairs>
  <TitlesOfParts>
    <vt:vector size="12" baseType="lpstr">
      <vt:lpstr>Aptos</vt:lpstr>
      <vt:lpstr>Arial</vt:lpstr>
      <vt:lpstr>Calibri</vt:lpstr>
      <vt:lpstr>Calibri Light</vt:lpstr>
      <vt:lpstr>Тема Office 2013–2022</vt:lpstr>
      <vt:lpstr>COM 398 Systems Security</vt:lpstr>
      <vt:lpstr>Explanation of TCP/IP protocols suit</vt:lpstr>
      <vt:lpstr>Explanation of TCP/IP protocols suit </vt:lpstr>
      <vt:lpstr>The work of the TCP 3-Way Handshake Process</vt:lpstr>
      <vt:lpstr>DoS, DDoS and its subtypes</vt:lpstr>
      <vt:lpstr>Identifying the type of the attack</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Artom Kovalenko</dc:creator>
  <cp:lastModifiedBy>Artom Kovalenko</cp:lastModifiedBy>
  <cp:revision>12</cp:revision>
  <dcterms:created xsi:type="dcterms:W3CDTF">2025-12-01T14:30:54Z</dcterms:created>
  <dcterms:modified xsi:type="dcterms:W3CDTF">2026-05-25T17:02:08Z</dcterms:modified>
</cp:coreProperties>
</file>